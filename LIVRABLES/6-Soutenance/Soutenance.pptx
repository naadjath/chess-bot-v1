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DIRE :</a:t>
            </a:r>
          </a:p>
          <a:p/>
          <a:p>
            <a:r>
              <a:t>Bonjour. Nous presentons Chess Bot v1 : un reseau de neurones qui choisit un coup d'echecs directement a partir de la position, sans explorer la moindre variante future. C'est cette absence de recherche qui rend le projet interessant — on va vous montrer ce qu'un petit modele arrive a apprendre, et surtout ses limites. Je suis [X], voici [Y], on se repartit la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DIRE :</a:t>
            </a:r>
          </a:p>
          <a:p/>
          <a:p>
            <a:r>
              <a:t>Voici les courbes reelles de notre entrainement. A gauche, la perte : elle part de 7,6, qui correspond au hasard pur sur 1968 coups possibles — c'est le logarithme de 1968 — et descend a 3,08 apres 4 epoques. Au milieu, la top-1 : la capacite du modele a retrouver exactement le coup joue par l'humain. Elle atteint 22,7 % en fin d'entrainement. A droite, la top-5 : le bon coup est dans les 5 premieres propositions du modele 51,7 % du temps. Point important a expliquer au jury : 22 % n'est pas un mauvais score, car dans beaucoup de positions plusieurs coups sont equivalents. Cette mesure evalue l'IMITATION, pas la force de jeu — c'est pour ca qu'on mesure aussi l'Elo par des vraies parties, sur la diapo suivante. Chaque epoque prend 8 a 9 minutes sur le GPU gratuit.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DIRE :</a:t>
            </a:r>
          </a:p>
          <a:p/>
          <a:p>
            <a:r>
              <a:t>C'est le resultat le plus parlant du projet. Si on demande au reseau ce qu'il joue au tout premier coup, avant meme d'avoir vu un seul coup de la partie, il repond d3, developper le cavalier en c3 ou en f3, jouer d4 ou c4. Ce sont exactement les principes qu'on enseigne a un debutant : sortir ses pieces, prendre le centre. Le modele n'a jamais recu une seule regle des echecs — ni comment une piece se deplace, ni ce qu'est un echec et mat. Il a uniquement regarde des parties de joueurs forts et en a deduit ces principes. C'est la preuve concrete qu'il a appris quelque chose de reel, et pas seulement memorise des positions.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DIRE :</a:t>
            </a:r>
          </a:p>
          <a:p/>
          <a:p>
            <a:r>
              <a:t>Deuxieme resultat, le plus important pour juger le projet : le niveau reel, mesure en faisant jouer le bot contre une echelle d'adversaires de force croissante, 60 parties chacun, avec un intervalle de confiance calcule par la methode de Wilson — on ne donne jamais un chiffre seul. Contre l'adversaire aleatoire, le bot obtient 47,5 %, un score statistiquement equivalent au hasard, autour de 230 Elo. Contre tous les adversaires plus structures, il perd presque systematiquement. Face a Stockfish bride a 1320 — le reglage le plus faible que Stockfish accepte — il ne gagne aucune partie. Notre verdict honnete : le bot se situe autour de 250 a 300 Elo, un niveau de tout premier debutant. On assume ce resultat plutot que de le cacher.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DIRE :</a:t>
            </a:r>
          </a:p>
          <a:p/>
          <a:p>
            <a:r>
              <a:t>Merci de votre attention, nous sommes prets pour vos questions. (Reponses preparees : pourquoi un Transformer plutot qu'un reseau convolutif — l'attention relie directement deux cases eloignees, utile pour une piece a longue portee ; comment on garantit qu'aucun coup illegal n'est joue — masquage a moins l'infini avant le choix du maximum ; pourquoi l'Elo varie autant selon l'adversaire — les Elo des baselines sont des ordres de grandeur admis, pas des valeurs calibrees officiellement.)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C1A1B"/>
        </a:solidFill>
        <a:effectLst/>
      </p:bgPr>
    </p:bg>
    <p:spTree>
      <p:nvGrpSpPr>
        <p:cNvPr id="1" name=""/>
        <p:cNvGrpSpPr/>
        <p:nvPr/>
      </p:nvGrpSpPr>
      <p:grpSpPr/>
      <p:sp>
        <p:nvSpPr>
          <p:cNvPr id="2" name="TextBox 1"/>
          <p:cNvSpPr txBox="1"/>
          <p:nvPr/>
        </p:nvSpPr>
        <p:spPr>
          <a:xfrm>
            <a:off x="900000" y="2450000"/>
            <a:ext cx="10400000" cy="2500000"/>
          </a:xfrm>
          <a:prstGeom prst="rect">
            <a:avLst/>
          </a:prstGeom>
          <a:noFill/>
        </p:spPr>
        <p:txBody>
          <a:bodyPr wrap="square" anchor="ctr">
            <a:spAutoFit/>
          </a:bodyPr>
          <a:lstStyle/>
          <a:p>
            <a:r>
              <a:rPr sz="5000" b="1" i="0">
                <a:solidFill>
                  <a:srgbClr val="FFFFFF"/>
                </a:solidFill>
                <a:latin typeface="Segoe UI"/>
              </a:rPr>
              <a:t>Chess Bot v1</a:t>
            </a:r>
          </a:p>
          <a:p>
            <a:pPr>
              <a:spcBef>
                <a:spcPts val="1200"/>
              </a:spcBef>
            </a:pPr>
            <a:r>
              <a:rPr sz="2100" b="1" i="0">
                <a:solidFill>
                  <a:srgbClr val="E7C6CE"/>
                </a:solidFill>
                <a:latin typeface="Segoe UI"/>
              </a:rPr>
              <a:t>Un Transformer qui joue aux echecs sans recherche</a:t>
            </a:r>
          </a:p>
          <a:p>
            <a:pPr>
              <a:spcBef>
                <a:spcPts val="800"/>
              </a:spcBef>
            </a:pPr>
            <a:r>
              <a:rPr sz="1400" b="0" i="0">
                <a:solidFill>
                  <a:srgbClr val="C9C2C5"/>
                </a:solidFill>
                <a:latin typeface="Segoe UI"/>
              </a:rPr>
              <a:t>Projet de fin de Bachelor</a:t>
            </a:r>
          </a:p>
          <a:p>
            <a:pPr>
              <a:spcBef>
                <a:spcPts val="800"/>
              </a:spcBef>
            </a:pPr>
            <a:r>
              <a:rPr sz="1400" b="0" i="0">
                <a:solidFill>
                  <a:srgbClr val="C9C2C5"/>
                </a:solidFill>
                <a:latin typeface="Segoe UI"/>
              </a:rPr>
              <a:t>[Prenom NOM] &amp; [Prenom NOM]</a:t>
            </a:r>
          </a:p>
          <a:p>
            <a:pPr>
              <a:spcBef>
                <a:spcPts val="800"/>
              </a:spcBef>
            </a:pPr>
            <a:r>
              <a:rPr sz="1400" b="0" i="0">
                <a:solidFill>
                  <a:srgbClr val="C9C2C5"/>
                </a:solidFill>
                <a:latin typeface="Segoe UI"/>
              </a:rPr>
              <a:t>[Etablissement] — 24 aout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00000" y="520000"/>
            <a:ext cx="90000" cy="760000"/>
          </a:xfrm>
          <a:prstGeom prst="rect">
            <a:avLst/>
          </a:prstGeom>
          <a:solidFill>
            <a:srgbClr val="B853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20000" y="470000"/>
            <a:ext cx="10500000" cy="1150000"/>
          </a:xfrm>
          <a:prstGeom prst="rect">
            <a:avLst/>
          </a:prstGeom>
          <a:noFill/>
        </p:spPr>
        <p:txBody>
          <a:bodyPr wrap="square" anchor="t">
            <a:spAutoFit/>
          </a:bodyPr>
          <a:lstStyle/>
          <a:p>
            <a:r>
              <a:rPr sz="1200" b="1" i="0">
                <a:solidFill>
                  <a:srgbClr val="B8536E"/>
                </a:solidFill>
                <a:latin typeface="Segoe UI"/>
              </a:rPr>
              <a:t>INTRODUCTION</a:t>
            </a:r>
          </a:p>
          <a:p>
            <a:r>
              <a:rPr sz="3000" b="1" i="0">
                <a:solidFill>
                  <a:srgbClr val="1C1A1B"/>
                </a:solidFill>
                <a:latin typeface="Segoe UI"/>
              </a:rPr>
              <a:t>La question de depart</a:t>
            </a:r>
          </a:p>
        </p:txBody>
      </p:sp>
      <p:sp>
        <p:nvSpPr>
          <p:cNvPr id="4" name="TextBox 3"/>
          <p:cNvSpPr txBox="1"/>
          <p:nvPr/>
        </p:nvSpPr>
        <p:spPr>
          <a:xfrm>
            <a:off x="920000" y="1750000"/>
            <a:ext cx="10400000" cy="4500000"/>
          </a:xfrm>
          <a:prstGeom prst="rect">
            <a:avLst/>
          </a:prstGeom>
          <a:noFill/>
        </p:spPr>
        <p:txBody>
          <a:bodyPr wrap="square" anchor="t">
            <a:spAutoFit/>
          </a:bodyPr>
          <a:lstStyle/>
          <a:p>
            <a:pPr>
              <a:spcAft>
                <a:spcPts val="1800"/>
              </a:spcAft>
            </a:pPr>
            <a:r>
              <a:rPr sz="1600" b="1">
                <a:solidFill>
                  <a:srgbClr val="B8536E"/>
                </a:solidFill>
                <a:latin typeface="Segoe UI"/>
              </a:rPr>
              <a:t>▸  </a:t>
            </a:r>
            <a:r>
              <a:rPr sz="1600" b="1">
                <a:solidFill>
                  <a:srgbClr val="1C1A1B"/>
                </a:solidFill>
                <a:latin typeface="Segoe UI"/>
              </a:rPr>
              <a:t>Les moteurs classiques CHERCHENT.</a:t>
            </a:r>
          </a:p>
          <a:p>
            <a:pPr>
              <a:spcAft>
                <a:spcPts val="1400"/>
              </a:spcAft>
            </a:pPr>
            <a:r>
              <a:rPr sz="1350">
                <a:solidFill>
                  <a:srgbClr val="5D5559"/>
                </a:solidFill>
                <a:latin typeface="Segoe UI"/>
              </a:rPr>
              <a:t>     Deep Blue, Stockfish : ils explorent des millions de positions futures avant de jouer un coup.</a:t>
            </a:r>
          </a:p>
          <a:p>
            <a:pPr>
              <a:spcAft>
                <a:spcPts val="1800"/>
              </a:spcAft>
            </a:pPr>
            <a:r>
              <a:rPr sz="1600" b="1">
                <a:solidFill>
                  <a:srgbClr val="B8536E"/>
                </a:solidFill>
                <a:latin typeface="Segoe UI"/>
              </a:rPr>
              <a:t>▸  </a:t>
            </a:r>
            <a:r>
              <a:rPr sz="1600" b="1">
                <a:solidFill>
                  <a:srgbClr val="1C1A1B"/>
                </a:solidFill>
                <a:latin typeface="Segoe UI"/>
              </a:rPr>
              <a:t>Notre bot, lui, ne cherche jamais.</a:t>
            </a:r>
          </a:p>
          <a:p>
            <a:pPr>
              <a:spcAft>
                <a:spcPts val="1400"/>
              </a:spcAft>
            </a:pPr>
            <a:r>
              <a:rPr sz="1350">
                <a:solidFill>
                  <a:srgbClr val="5D5559"/>
                </a:solidFill>
                <a:latin typeface="Segoe UI"/>
              </a:rPr>
              <a:t>     Il repond a l'instinct, comme un joueur humain fort en partie a la pendule tres rapide (blitz).</a:t>
            </a:r>
          </a:p>
          <a:p>
            <a:pPr>
              <a:spcAft>
                <a:spcPts val="1800"/>
              </a:spcAft>
            </a:pPr>
            <a:r>
              <a:rPr sz="1600" b="1">
                <a:solidFill>
                  <a:srgbClr val="B8536E"/>
                </a:solidFill>
                <a:latin typeface="Segoe UI"/>
              </a:rPr>
              <a:t>▸  </a:t>
            </a:r>
            <a:r>
              <a:rPr sz="1600" b="1">
                <a:solidFill>
                  <a:srgbClr val="1C1A1B"/>
                </a:solidFill>
                <a:latin typeface="Segoe UI"/>
              </a:rPr>
              <a:t>La question qu'on se pose :</a:t>
            </a:r>
          </a:p>
          <a:p>
            <a:pPr>
              <a:spcAft>
                <a:spcPts val="1400"/>
              </a:spcAft>
            </a:pPr>
            <a:r>
              <a:rPr sz="1350">
                <a:solidFill>
                  <a:srgbClr val="5D5559"/>
                </a:solidFill>
                <a:latin typeface="Segoe UI"/>
              </a:rPr>
              <a:t>     un Transformer peut-il jouer correctement rien qu'en RECONNAISSANT une position, sans jamais calculer une suite de coups ?</a:t>
            </a:r>
          </a:p>
        </p:txBody>
      </p:sp>
      <p:sp>
        <p:nvSpPr>
          <p:cNvPr id="5" name="TextBox 4"/>
          <p:cNvSpPr txBox="1"/>
          <p:nvPr/>
        </p:nvSpPr>
        <p:spPr>
          <a:xfrm>
            <a:off x="700000" y="6480000"/>
            <a:ext cx="10800000" cy="300000"/>
          </a:xfrm>
          <a:prstGeom prst="rect">
            <a:avLst/>
          </a:prstGeom>
          <a:noFill/>
        </p:spPr>
        <p:txBody>
          <a:bodyPr wrap="square" anchor="t">
            <a:spAutoFit/>
          </a:bodyPr>
          <a:lstStyle/>
          <a:p>
            <a:r>
              <a:rPr sz="950" b="0" i="0">
                <a:solidFill>
                  <a:srgbClr val="A59DA1"/>
                </a:solidFill>
                <a:latin typeface="Segoe UI"/>
              </a:rPr>
              <a:t>Chess Bot v1  ·  Introduction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00000" y="520000"/>
            <a:ext cx="90000" cy="760000"/>
          </a:xfrm>
          <a:prstGeom prst="rect">
            <a:avLst/>
          </a:prstGeom>
          <a:solidFill>
            <a:srgbClr val="B853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20000" y="470000"/>
            <a:ext cx="10500000" cy="1150000"/>
          </a:xfrm>
          <a:prstGeom prst="rect">
            <a:avLst/>
          </a:prstGeom>
          <a:noFill/>
        </p:spPr>
        <p:txBody>
          <a:bodyPr wrap="square" anchor="t">
            <a:spAutoFit/>
          </a:bodyPr>
          <a:lstStyle/>
          <a:p>
            <a:r>
              <a:rPr sz="1200" b="1" i="0">
                <a:solidFill>
                  <a:srgbClr val="B8536E"/>
                </a:solidFill>
                <a:latin typeface="Segoe UI"/>
              </a:rPr>
              <a:t>ETAT DE L'ART</a:t>
            </a:r>
          </a:p>
          <a:p>
            <a:r>
              <a:rPr sz="3000" b="1" i="0">
                <a:solidFill>
                  <a:srgbClr val="1C1A1B"/>
                </a:solidFill>
                <a:latin typeface="Segoe UI"/>
              </a:rPr>
              <a:t>Contexte : les echecs et l'IA</a:t>
            </a:r>
          </a:p>
          <a:p>
            <a:pPr>
              <a:spcBef>
                <a:spcPts val="400"/>
              </a:spcBef>
            </a:pPr>
            <a:r>
              <a:rPr sz="1500" b="0" i="0">
                <a:solidFill>
                  <a:srgbClr val="5D5559"/>
                </a:solidFill>
                <a:latin typeface="Segoe UI"/>
              </a:rPr>
              <a:t>Un demi-siecle d'approches, un point commun : la recherche</a:t>
            </a:r>
          </a:p>
        </p:txBody>
      </p:sp>
      <p:sp>
        <p:nvSpPr>
          <p:cNvPr id="4" name="TextBox 3"/>
          <p:cNvSpPr txBox="1"/>
          <p:nvPr/>
        </p:nvSpPr>
        <p:spPr>
          <a:xfrm>
            <a:off x="920000" y="1750000"/>
            <a:ext cx="10400000" cy="4500000"/>
          </a:xfrm>
          <a:prstGeom prst="rect">
            <a:avLst/>
          </a:prstGeom>
          <a:noFill/>
        </p:spPr>
        <p:txBody>
          <a:bodyPr wrap="square" anchor="t">
            <a:spAutoFit/>
          </a:bodyPr>
          <a:lstStyle/>
          <a:p>
            <a:pPr>
              <a:spcAft>
                <a:spcPts val="1800"/>
              </a:spcAft>
            </a:pPr>
            <a:r>
              <a:rPr sz="1600" b="1">
                <a:solidFill>
                  <a:srgbClr val="B8536E"/>
                </a:solidFill>
                <a:latin typeface="Segoe UI"/>
              </a:rPr>
              <a:t>▸  </a:t>
            </a:r>
            <a:r>
              <a:rPr sz="1600" b="1">
                <a:solidFill>
                  <a:srgbClr val="1C1A1B"/>
                </a:solidFill>
                <a:latin typeface="Segoe UI"/>
              </a:rPr>
              <a:t>1997 — Deep Blue bat Kasparov</a:t>
            </a:r>
          </a:p>
          <a:p>
            <a:pPr>
              <a:spcAft>
                <a:spcPts val="1400"/>
              </a:spcAft>
            </a:pPr>
            <a:r>
              <a:rPr sz="1350">
                <a:solidFill>
                  <a:srgbClr val="5D5559"/>
                </a:solidFill>
                <a:latin typeface="Segoe UI"/>
              </a:rPr>
              <a:t>     recherche alpha-beta massive, evaluation ecrite a la main par des experts</a:t>
            </a:r>
          </a:p>
          <a:p>
            <a:pPr>
              <a:spcAft>
                <a:spcPts val="1800"/>
              </a:spcAft>
            </a:pPr>
            <a:r>
              <a:rPr sz="1600" b="1">
                <a:solidFill>
                  <a:srgbClr val="B8536E"/>
                </a:solidFill>
                <a:latin typeface="Segoe UI"/>
              </a:rPr>
              <a:t>▸  </a:t>
            </a:r>
            <a:r>
              <a:rPr sz="1600" b="1">
                <a:solidFill>
                  <a:srgbClr val="1C1A1B"/>
                </a:solidFill>
                <a:latin typeface="Segoe UI"/>
              </a:rPr>
              <a:t>2017 — AlphaZero</a:t>
            </a:r>
          </a:p>
          <a:p>
            <a:pPr>
              <a:spcAft>
                <a:spcPts val="1400"/>
              </a:spcAft>
            </a:pPr>
            <a:r>
              <a:rPr sz="1350">
                <a:solidFill>
                  <a:srgbClr val="5D5559"/>
                </a:solidFill>
                <a:latin typeface="Segoe UI"/>
              </a:rPr>
              <a:t>     reseau de neurones + recherche arborescente (MCTS), entraine par auto-apprentissage</a:t>
            </a:r>
          </a:p>
          <a:p>
            <a:pPr>
              <a:spcAft>
                <a:spcPts val="1800"/>
              </a:spcAft>
            </a:pPr>
            <a:r>
              <a:rPr sz="1600" b="1">
                <a:solidFill>
                  <a:srgbClr val="B8536E"/>
                </a:solidFill>
                <a:latin typeface="Segoe UI"/>
              </a:rPr>
              <a:t>▸  </a:t>
            </a:r>
            <a:r>
              <a:rPr sz="1600" b="1">
                <a:solidFill>
                  <a:srgbClr val="1C1A1B"/>
                </a:solidFill>
                <a:latin typeface="Segoe UI"/>
              </a:rPr>
              <a:t>2020+ — Stockfish (NNUE)</a:t>
            </a:r>
          </a:p>
          <a:p>
            <a:pPr>
              <a:spcAft>
                <a:spcPts val="1400"/>
              </a:spcAft>
            </a:pPr>
            <a:r>
              <a:rPr sz="1350">
                <a:solidFill>
                  <a:srgbClr val="5D5559"/>
                </a:solidFill>
                <a:latin typeface="Segoe UI"/>
              </a:rPr>
              <a:t>     recherche alpha-beta tres optimisee + petit reseau d'evaluation</a:t>
            </a:r>
          </a:p>
          <a:p>
            <a:pPr>
              <a:spcAft>
                <a:spcPts val="1800"/>
              </a:spcAft>
            </a:pPr>
            <a:r>
              <a:rPr sz="1600" b="1">
                <a:solidFill>
                  <a:srgbClr val="B8536E"/>
                </a:solidFill>
                <a:latin typeface="Segoe UI"/>
              </a:rPr>
              <a:t>▸  </a:t>
            </a:r>
            <a:r>
              <a:rPr sz="1600" b="1">
                <a:solidFill>
                  <a:srgbClr val="1C1A1B"/>
                </a:solidFill>
                <a:latin typeface="Segoe UI"/>
              </a:rPr>
              <a:t>2024 — DeepMind, Grandmaster-Level Chess Without Search</a:t>
            </a:r>
          </a:p>
          <a:p>
            <a:pPr>
              <a:spcAft>
                <a:spcPts val="1400"/>
              </a:spcAft>
            </a:pPr>
            <a:r>
              <a:rPr sz="1350">
                <a:solidFill>
                  <a:srgbClr val="5D5559"/>
                </a:solidFill>
                <a:latin typeface="Segoe UI"/>
              </a:rPr>
              <a:t>     un Transformer SEUL atteint un niveau de grand maitre — c'est notre reference directe</a:t>
            </a:r>
          </a:p>
        </p:txBody>
      </p:sp>
      <p:sp>
        <p:nvSpPr>
          <p:cNvPr id="5" name="TextBox 4"/>
          <p:cNvSpPr txBox="1"/>
          <p:nvPr/>
        </p:nvSpPr>
        <p:spPr>
          <a:xfrm>
            <a:off x="700000" y="6480000"/>
            <a:ext cx="10800000" cy="300000"/>
          </a:xfrm>
          <a:prstGeom prst="rect">
            <a:avLst/>
          </a:prstGeom>
          <a:noFill/>
        </p:spPr>
        <p:txBody>
          <a:bodyPr wrap="square" anchor="t">
            <a:spAutoFit/>
          </a:bodyPr>
          <a:lstStyle/>
          <a:p>
            <a:r>
              <a:rPr sz="950" b="0" i="0">
                <a:solidFill>
                  <a:srgbClr val="A59DA1"/>
                </a:solidFill>
                <a:latin typeface="Segoe UI"/>
              </a:rPr>
              <a:t>Chess Bot v1  ·  Etat de l'art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00000" y="520000"/>
            <a:ext cx="90000" cy="760000"/>
          </a:xfrm>
          <a:prstGeom prst="rect">
            <a:avLst/>
          </a:prstGeom>
          <a:solidFill>
            <a:srgbClr val="B853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20000" y="470000"/>
            <a:ext cx="10500000" cy="1150000"/>
          </a:xfrm>
          <a:prstGeom prst="rect">
            <a:avLst/>
          </a:prstGeom>
          <a:noFill/>
        </p:spPr>
        <p:txBody>
          <a:bodyPr wrap="square" anchor="t">
            <a:spAutoFit/>
          </a:bodyPr>
          <a:lstStyle/>
          <a:p>
            <a:r>
              <a:rPr sz="1200" b="1" i="0">
                <a:solidFill>
                  <a:srgbClr val="B8536E"/>
                </a:solidFill>
                <a:latin typeface="Segoe UI"/>
              </a:rPr>
              <a:t>POSITIONNEMENT</a:t>
            </a:r>
          </a:p>
          <a:p>
            <a:r>
              <a:rPr sz="3000" b="1" i="0">
                <a:solidFill>
                  <a:srgbClr val="1C1A1B"/>
                </a:solidFill>
                <a:latin typeface="Segoe UI"/>
              </a:rPr>
              <a:t>Notre pari : une version reduite et assumee</a:t>
            </a:r>
          </a:p>
        </p:txBody>
      </p:sp>
      <p:sp>
        <p:nvSpPr>
          <p:cNvPr id="4" name="TextBox 3"/>
          <p:cNvSpPr txBox="1"/>
          <p:nvPr/>
        </p:nvSpPr>
        <p:spPr>
          <a:xfrm>
            <a:off x="920000" y="1750000"/>
            <a:ext cx="10400000" cy="4500000"/>
          </a:xfrm>
          <a:prstGeom prst="rect">
            <a:avLst/>
          </a:prstGeom>
          <a:noFill/>
        </p:spPr>
        <p:txBody>
          <a:bodyPr wrap="square" anchor="t">
            <a:spAutoFit/>
          </a:bodyPr>
          <a:lstStyle/>
          <a:p>
            <a:pPr>
              <a:spcAft>
                <a:spcPts val="1800"/>
              </a:spcAft>
            </a:pPr>
            <a:r>
              <a:rPr sz="1600" b="1">
                <a:solidFill>
                  <a:srgbClr val="B8536E"/>
                </a:solidFill>
                <a:latin typeface="Segoe UI"/>
              </a:rPr>
              <a:t>▸  </a:t>
            </a:r>
            <a:r>
              <a:rPr sz="1600" b="1">
                <a:solidFill>
                  <a:srgbClr val="1C1A1B"/>
                </a:solidFill>
                <a:latin typeface="Segoe UI"/>
              </a:rPr>
              <a:t>DeepMind (2024)</a:t>
            </a:r>
          </a:p>
          <a:p>
            <a:pPr>
              <a:spcAft>
                <a:spcPts val="1400"/>
              </a:spcAft>
            </a:pPr>
            <a:r>
              <a:rPr sz="1350">
                <a:solidFill>
                  <a:srgbClr val="5D5559"/>
                </a:solidFill>
                <a:latin typeface="Segoe UI"/>
              </a:rPr>
              <a:t>     270 millions de parametres · 10 millions de parties annotees par Stockfish · TPU dedies</a:t>
            </a:r>
          </a:p>
          <a:p>
            <a:pPr>
              <a:spcAft>
                <a:spcPts val="1800"/>
              </a:spcAft>
            </a:pPr>
            <a:r>
              <a:rPr sz="1600" b="1">
                <a:solidFill>
                  <a:srgbClr val="B8536E"/>
                </a:solidFill>
                <a:latin typeface="Segoe UI"/>
              </a:rPr>
              <a:t>▸  </a:t>
            </a:r>
            <a:r>
              <a:rPr sz="1600" b="1">
                <a:solidFill>
                  <a:srgbClr val="1C1A1B"/>
                </a:solidFill>
                <a:latin typeface="Segoe UI"/>
              </a:rPr>
              <a:t>Nous</a:t>
            </a:r>
          </a:p>
          <a:p>
            <a:pPr>
              <a:spcAft>
                <a:spcPts val="1400"/>
              </a:spcAft>
            </a:pPr>
            <a:r>
              <a:rPr sz="1350">
                <a:solidFill>
                  <a:srgbClr val="5D5559"/>
                </a:solidFill>
                <a:latin typeface="Segoe UI"/>
              </a:rPr>
              <a:t>     6,86 millions de parametres (x40 plus petit) · 1 million de positions · 1 GPU T4 gratuit (Google Colab)</a:t>
            </a:r>
          </a:p>
          <a:p>
            <a:pPr>
              <a:spcAft>
                <a:spcPts val="1800"/>
              </a:spcAft>
            </a:pPr>
            <a:r>
              <a:rPr sz="1600" b="1">
                <a:solidFill>
                  <a:srgbClr val="B8536E"/>
                </a:solidFill>
                <a:latin typeface="Segoe UI"/>
              </a:rPr>
              <a:t>▸  </a:t>
            </a:r>
            <a:r>
              <a:rPr sz="1600" b="1">
                <a:solidFill>
                  <a:srgbClr val="1C1A1B"/>
                </a:solidFill>
                <a:latin typeface="Segoe UI"/>
              </a:rPr>
              <a:t>Consequence assumee</a:t>
            </a:r>
          </a:p>
          <a:p>
            <a:pPr>
              <a:spcAft>
                <a:spcPts val="1400"/>
              </a:spcAft>
            </a:pPr>
            <a:r>
              <a:rPr sz="1350">
                <a:solidFill>
                  <a:srgbClr val="5D5559"/>
                </a:solidFill>
                <a:latin typeface="Segoe UI"/>
              </a:rPr>
              <a:t>     on ne vise pas a battre Stockfish. L'objectif est de mesurer honnetement ce qu'un petit modele apprend, avec la meme rigueur experimentale.</a:t>
            </a:r>
          </a:p>
        </p:txBody>
      </p:sp>
      <p:sp>
        <p:nvSpPr>
          <p:cNvPr id="5" name="TextBox 4"/>
          <p:cNvSpPr txBox="1"/>
          <p:nvPr/>
        </p:nvSpPr>
        <p:spPr>
          <a:xfrm>
            <a:off x="700000" y="6480000"/>
            <a:ext cx="10800000" cy="300000"/>
          </a:xfrm>
          <a:prstGeom prst="rect">
            <a:avLst/>
          </a:prstGeom>
          <a:noFill/>
        </p:spPr>
        <p:txBody>
          <a:bodyPr wrap="square" anchor="t">
            <a:spAutoFit/>
          </a:bodyPr>
          <a:lstStyle/>
          <a:p>
            <a:r>
              <a:rPr sz="950" b="0" i="0">
                <a:solidFill>
                  <a:srgbClr val="A59DA1"/>
                </a:solidFill>
                <a:latin typeface="Segoe UI"/>
              </a:rPr>
              <a:t>Chess Bot v1  ·  Positionnement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00000" y="520000"/>
            <a:ext cx="90000" cy="760000"/>
          </a:xfrm>
          <a:prstGeom prst="rect">
            <a:avLst/>
          </a:prstGeom>
          <a:solidFill>
            <a:srgbClr val="B853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20000" y="470000"/>
            <a:ext cx="10500000" cy="1150000"/>
          </a:xfrm>
          <a:prstGeom prst="rect">
            <a:avLst/>
          </a:prstGeom>
          <a:noFill/>
        </p:spPr>
        <p:txBody>
          <a:bodyPr wrap="square" anchor="t">
            <a:spAutoFit/>
          </a:bodyPr>
          <a:lstStyle/>
          <a:p>
            <a:r>
              <a:rPr sz="1200" b="1" i="0">
                <a:solidFill>
                  <a:srgbClr val="B8536E"/>
                </a:solidFill>
                <a:latin typeface="Segoe UI"/>
              </a:rPr>
              <a:t>COMMENT CA MARCHE</a:t>
            </a:r>
          </a:p>
          <a:p>
            <a:r>
              <a:rPr sz="3000" b="1" i="0">
                <a:solidFill>
                  <a:srgbClr val="1C1A1B"/>
                </a:solidFill>
                <a:latin typeface="Segoe UI"/>
              </a:rPr>
              <a:t>Vue d'ensemble</a:t>
            </a:r>
          </a:p>
          <a:p>
            <a:pPr>
              <a:spcBef>
                <a:spcPts val="400"/>
              </a:spcBef>
            </a:pPr>
            <a:r>
              <a:rPr sz="1500" b="0" i="0">
                <a:solidFill>
                  <a:srgbClr val="5D5559"/>
                </a:solidFill>
                <a:latin typeface="Segoe UI"/>
              </a:rPr>
              <a:t>Quatre etapes, de la partie brute au coup joue</a:t>
            </a:r>
          </a:p>
        </p:txBody>
      </p:sp>
      <p:sp>
        <p:nvSpPr>
          <p:cNvPr id="4" name="Rounded Rectangle 3"/>
          <p:cNvSpPr/>
          <p:nvPr/>
        </p:nvSpPr>
        <p:spPr>
          <a:xfrm>
            <a:off x="916000" y="2650000"/>
            <a:ext cx="2380000" cy="560000"/>
          </a:xfrm>
          <a:prstGeom prst="roundRect">
            <a:avLst/>
          </a:prstGeom>
          <a:solidFill>
            <a:srgbClr val="1C1A1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500" b="1" i="0">
                <a:solidFill>
                  <a:srgbClr val="FFFFFF"/>
                </a:solidFill>
                <a:latin typeface="Segoe UI"/>
              </a:rPr>
              <a:t>DONNEES</a:t>
            </a:r>
          </a:p>
        </p:txBody>
      </p:sp>
      <p:sp>
        <p:nvSpPr>
          <p:cNvPr id="5" name="Rounded Rectangle 4"/>
          <p:cNvSpPr/>
          <p:nvPr/>
        </p:nvSpPr>
        <p:spPr>
          <a:xfrm>
            <a:off x="916000" y="3270000"/>
            <a:ext cx="2380000" cy="1130000"/>
          </a:xfrm>
          <a:prstGeom prst="round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250" b="0" i="0">
                <a:solidFill>
                  <a:srgbClr val="1C1A1B"/>
                </a:solidFill>
                <a:latin typeface="Segoe UI"/>
              </a:rPr>
              <a:t>1M de positions</a:t>
            </a:r>
          </a:p>
          <a:p>
            <a:pPr algn="ctr"/>
            <a:r>
              <a:rPr sz="1250" b="0" i="0">
                <a:solidFill>
                  <a:srgbClr val="1C1A1B"/>
                </a:solidFill>
                <a:latin typeface="Segoe UI"/>
              </a:rPr>
              <a:t>issues de Lichess</a:t>
            </a:r>
          </a:p>
        </p:txBody>
      </p:sp>
      <p:sp>
        <p:nvSpPr>
          <p:cNvPr id="6" name="Oval 5"/>
          <p:cNvSpPr/>
          <p:nvPr/>
        </p:nvSpPr>
        <p:spPr>
          <a:xfrm>
            <a:off x="1886000" y="2230000"/>
            <a:ext cx="440000" cy="440000"/>
          </a:xfrm>
          <a:prstGeom prst="ellipse">
            <a:avLst/>
          </a:prstGeom>
          <a:solidFill>
            <a:srgbClr val="FFFFFF"/>
          </a:solidFill>
          <a:ln w="25400">
            <a:solidFill>
              <a:srgbClr val="B853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i="0">
                <a:solidFill>
                  <a:srgbClr val="B8536E"/>
                </a:solidFill>
                <a:latin typeface="Segoe UI"/>
              </a:rPr>
              <a:t>1</a:t>
            </a:r>
          </a:p>
        </p:txBody>
      </p:sp>
      <p:cxnSp>
        <p:nvCxnSpPr>
          <p:cNvPr id="7" name="Connector 6"/>
          <p:cNvCxnSpPr/>
          <p:nvPr/>
        </p:nvCxnSpPr>
        <p:spPr>
          <a:xfrm>
            <a:off x="3338000" y="3550000"/>
            <a:ext cx="196000" cy="0"/>
          </a:xfrm>
          <a:prstGeom prst="line">
            <a:avLst/>
          </a:prstGeom>
          <a:ln w="30480">
            <a:solidFill>
              <a:srgbClr val="B8536E"/>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576000" y="2650000"/>
            <a:ext cx="2380000" cy="560000"/>
          </a:xfrm>
          <a:prstGeom prst="roundRect">
            <a:avLst/>
          </a:prstGeom>
          <a:solidFill>
            <a:srgbClr val="B853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500" b="1" i="0">
                <a:solidFill>
                  <a:srgbClr val="FFFFFF"/>
                </a:solidFill>
                <a:latin typeface="Segoe UI"/>
              </a:rPr>
              <a:t>ENCODAGE</a:t>
            </a:r>
          </a:p>
        </p:txBody>
      </p:sp>
      <p:sp>
        <p:nvSpPr>
          <p:cNvPr id="9" name="Rounded Rectangle 8"/>
          <p:cNvSpPr/>
          <p:nvPr/>
        </p:nvSpPr>
        <p:spPr>
          <a:xfrm>
            <a:off x="3576000" y="3270000"/>
            <a:ext cx="2380000" cy="1130000"/>
          </a:xfrm>
          <a:prstGeom prst="round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250" b="0" i="0">
                <a:solidFill>
                  <a:srgbClr val="1C1A1B"/>
                </a:solidFill>
                <a:latin typeface="Segoe UI"/>
              </a:rPr>
              <a:t>chaque position</a:t>
            </a:r>
          </a:p>
          <a:p>
            <a:pPr algn="ctr"/>
            <a:r>
              <a:rPr sz="1250" b="0" i="0">
                <a:solidFill>
                  <a:srgbClr val="1C1A1B"/>
                </a:solidFill>
                <a:latin typeface="Segoe UI"/>
              </a:rPr>
              <a:t>-&gt; 68 nombres</a:t>
            </a:r>
          </a:p>
        </p:txBody>
      </p:sp>
      <p:sp>
        <p:nvSpPr>
          <p:cNvPr id="10" name="Oval 9"/>
          <p:cNvSpPr/>
          <p:nvPr/>
        </p:nvSpPr>
        <p:spPr>
          <a:xfrm>
            <a:off x="4546000" y="2230000"/>
            <a:ext cx="440000" cy="440000"/>
          </a:xfrm>
          <a:prstGeom prst="ellipse">
            <a:avLst/>
          </a:prstGeom>
          <a:solidFill>
            <a:srgbClr val="FFFFFF"/>
          </a:solidFill>
          <a:ln w="25400">
            <a:solidFill>
              <a:srgbClr val="B853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i="0">
                <a:solidFill>
                  <a:srgbClr val="B8536E"/>
                </a:solidFill>
                <a:latin typeface="Segoe UI"/>
              </a:rPr>
              <a:t>2</a:t>
            </a:r>
          </a:p>
        </p:txBody>
      </p:sp>
      <p:cxnSp>
        <p:nvCxnSpPr>
          <p:cNvPr id="11" name="Connector 10"/>
          <p:cNvCxnSpPr/>
          <p:nvPr/>
        </p:nvCxnSpPr>
        <p:spPr>
          <a:xfrm>
            <a:off x="5998000" y="3550000"/>
            <a:ext cx="196000" cy="0"/>
          </a:xfrm>
          <a:prstGeom prst="line">
            <a:avLst/>
          </a:prstGeom>
          <a:ln w="30480">
            <a:solidFill>
              <a:srgbClr val="B8536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236000" y="2650000"/>
            <a:ext cx="2380000" cy="560000"/>
          </a:xfrm>
          <a:prstGeom prst="roundRect">
            <a:avLst/>
          </a:prstGeom>
          <a:solidFill>
            <a:srgbClr val="1C1A1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500" b="1" i="0">
                <a:solidFill>
                  <a:srgbClr val="FFFFFF"/>
                </a:solidFill>
                <a:latin typeface="Segoe UI"/>
              </a:rPr>
              <a:t>MODELE</a:t>
            </a:r>
          </a:p>
        </p:txBody>
      </p:sp>
      <p:sp>
        <p:nvSpPr>
          <p:cNvPr id="13" name="Rounded Rectangle 12"/>
          <p:cNvSpPr/>
          <p:nvPr/>
        </p:nvSpPr>
        <p:spPr>
          <a:xfrm>
            <a:off x="6236000" y="3270000"/>
            <a:ext cx="2380000" cy="1130000"/>
          </a:xfrm>
          <a:prstGeom prst="round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250" b="0" i="0">
                <a:solidFill>
                  <a:srgbClr val="1C1A1B"/>
                </a:solidFill>
                <a:latin typeface="Segoe UI"/>
              </a:rPr>
              <a:t>le Transformer</a:t>
            </a:r>
          </a:p>
          <a:p>
            <a:pPr algn="ctr"/>
            <a:r>
              <a:rPr sz="1250" b="0" i="0">
                <a:solidFill>
                  <a:srgbClr val="1C1A1B"/>
                </a:solidFill>
                <a:latin typeface="Segoe UI"/>
              </a:rPr>
              <a:t>note 1968 coups</a:t>
            </a:r>
          </a:p>
        </p:txBody>
      </p:sp>
      <p:sp>
        <p:nvSpPr>
          <p:cNvPr id="14" name="Oval 13"/>
          <p:cNvSpPr/>
          <p:nvPr/>
        </p:nvSpPr>
        <p:spPr>
          <a:xfrm>
            <a:off x="7206000" y="2230000"/>
            <a:ext cx="440000" cy="440000"/>
          </a:xfrm>
          <a:prstGeom prst="ellipse">
            <a:avLst/>
          </a:prstGeom>
          <a:solidFill>
            <a:srgbClr val="FFFFFF"/>
          </a:solidFill>
          <a:ln w="25400">
            <a:solidFill>
              <a:srgbClr val="B853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i="0">
                <a:solidFill>
                  <a:srgbClr val="B8536E"/>
                </a:solidFill>
                <a:latin typeface="Segoe UI"/>
              </a:rPr>
              <a:t>3</a:t>
            </a:r>
          </a:p>
        </p:txBody>
      </p:sp>
      <p:cxnSp>
        <p:nvCxnSpPr>
          <p:cNvPr id="15" name="Connector 14"/>
          <p:cNvCxnSpPr/>
          <p:nvPr/>
        </p:nvCxnSpPr>
        <p:spPr>
          <a:xfrm>
            <a:off x="8658000" y="3550000"/>
            <a:ext cx="196000" cy="0"/>
          </a:xfrm>
          <a:prstGeom prst="line">
            <a:avLst/>
          </a:prstGeom>
          <a:ln w="30480">
            <a:solidFill>
              <a:srgbClr val="B8536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8896000" y="2650000"/>
            <a:ext cx="2380000" cy="560000"/>
          </a:xfrm>
          <a:prstGeom prst="roundRect">
            <a:avLst/>
          </a:prstGeom>
          <a:solidFill>
            <a:srgbClr val="B853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500" b="1" i="0">
                <a:solidFill>
                  <a:srgbClr val="FFFFFF"/>
                </a:solidFill>
                <a:latin typeface="Segoe UI"/>
              </a:rPr>
              <a:t>EVALUATION</a:t>
            </a:r>
          </a:p>
        </p:txBody>
      </p:sp>
      <p:sp>
        <p:nvSpPr>
          <p:cNvPr id="17" name="Rounded Rectangle 16"/>
          <p:cNvSpPr/>
          <p:nvPr/>
        </p:nvSpPr>
        <p:spPr>
          <a:xfrm>
            <a:off x="8896000" y="3270000"/>
            <a:ext cx="2380000" cy="1130000"/>
          </a:xfrm>
          <a:prstGeom prst="round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250" b="0" i="0">
                <a:solidFill>
                  <a:srgbClr val="1C1A1B"/>
                </a:solidFill>
                <a:latin typeface="Segoe UI"/>
              </a:rPr>
              <a:t>matchs juges</a:t>
            </a:r>
          </a:p>
          <a:p>
            <a:pPr algn="ctr"/>
            <a:r>
              <a:rPr sz="1250" b="0" i="0">
                <a:solidFill>
                  <a:srgbClr val="1C1A1B"/>
                </a:solidFill>
                <a:latin typeface="Segoe UI"/>
              </a:rPr>
              <a:t>-&gt; Elo</a:t>
            </a:r>
          </a:p>
        </p:txBody>
      </p:sp>
      <p:sp>
        <p:nvSpPr>
          <p:cNvPr id="18" name="Oval 17"/>
          <p:cNvSpPr/>
          <p:nvPr/>
        </p:nvSpPr>
        <p:spPr>
          <a:xfrm>
            <a:off x="9866000" y="2230000"/>
            <a:ext cx="440000" cy="440000"/>
          </a:xfrm>
          <a:prstGeom prst="ellipse">
            <a:avLst/>
          </a:prstGeom>
          <a:solidFill>
            <a:srgbClr val="FFFFFF"/>
          </a:solidFill>
          <a:ln w="25400">
            <a:solidFill>
              <a:srgbClr val="B853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i="0">
                <a:solidFill>
                  <a:srgbClr val="B8536E"/>
                </a:solidFill>
                <a:latin typeface="Segoe UI"/>
              </a:rPr>
              <a:t>4</a:t>
            </a:r>
          </a:p>
        </p:txBody>
      </p:sp>
      <p:sp>
        <p:nvSpPr>
          <p:cNvPr id="19" name="TextBox 18"/>
          <p:cNvSpPr txBox="1"/>
          <p:nvPr/>
        </p:nvSpPr>
        <p:spPr>
          <a:xfrm>
            <a:off x="700000" y="5150000"/>
            <a:ext cx="10800000" cy="500000"/>
          </a:xfrm>
          <a:prstGeom prst="rect">
            <a:avLst/>
          </a:prstGeom>
          <a:noFill/>
        </p:spPr>
        <p:txBody>
          <a:bodyPr wrap="square" anchor="t">
            <a:spAutoFit/>
          </a:bodyPr>
          <a:lstStyle/>
          <a:p>
            <a:pPr algn="ctr"/>
            <a:r>
              <a:rPr sz="1150" b="0" i="1">
                <a:solidFill>
                  <a:srgbClr val="5D5559"/>
                </a:solidFill>
                <a:latin typeface="Segoe UI"/>
              </a:rPr>
              <a:t>L'entrainement est du clonage comportemental : le reseau apprend a imiter le coup joue par un joueur fort dans chaque position.</a:t>
            </a:r>
          </a:p>
        </p:txBody>
      </p:sp>
      <p:sp>
        <p:nvSpPr>
          <p:cNvPr id="20" name="TextBox 19"/>
          <p:cNvSpPr txBox="1"/>
          <p:nvPr/>
        </p:nvSpPr>
        <p:spPr>
          <a:xfrm>
            <a:off x="700000" y="6480000"/>
            <a:ext cx="10800000" cy="300000"/>
          </a:xfrm>
          <a:prstGeom prst="rect">
            <a:avLst/>
          </a:prstGeom>
          <a:noFill/>
        </p:spPr>
        <p:txBody>
          <a:bodyPr wrap="square" anchor="t">
            <a:spAutoFit/>
          </a:bodyPr>
          <a:lstStyle/>
          <a:p>
            <a:r>
              <a:rPr sz="950" b="0" i="0">
                <a:solidFill>
                  <a:srgbClr val="A59DA1"/>
                </a:solidFill>
                <a:latin typeface="Segoe UI"/>
              </a:rPr>
              <a:t>Chess Bot v1  ·  Architecture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00000" y="520000"/>
            <a:ext cx="90000" cy="760000"/>
          </a:xfrm>
          <a:prstGeom prst="rect">
            <a:avLst/>
          </a:prstGeom>
          <a:solidFill>
            <a:srgbClr val="B853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20000" y="470000"/>
            <a:ext cx="10500000" cy="1150000"/>
          </a:xfrm>
          <a:prstGeom prst="rect">
            <a:avLst/>
          </a:prstGeom>
          <a:noFill/>
        </p:spPr>
        <p:txBody>
          <a:bodyPr wrap="square" anchor="t">
            <a:spAutoFit/>
          </a:bodyPr>
          <a:lstStyle/>
          <a:p>
            <a:r>
              <a:rPr sz="1200" b="1" i="0">
                <a:solidFill>
                  <a:srgbClr val="B8536E"/>
                </a:solidFill>
                <a:latin typeface="Segoe UI"/>
              </a:rPr>
              <a:t>DONNEES</a:t>
            </a:r>
          </a:p>
          <a:p>
            <a:r>
              <a:rPr sz="3000" b="1" i="0">
                <a:solidFill>
                  <a:srgbClr val="1C1A1B"/>
                </a:solidFill>
                <a:latin typeface="Segoe UI"/>
              </a:rPr>
              <a:t>Etape 1 — Les donnees</a:t>
            </a:r>
          </a:p>
          <a:p>
            <a:pPr>
              <a:spcBef>
                <a:spcPts val="400"/>
              </a:spcBef>
            </a:pPr>
            <a:r>
              <a:rPr sz="1500" b="0" i="0">
                <a:solidFill>
                  <a:srgbClr val="5D5559"/>
                </a:solidFill>
                <a:latin typeface="Segoe UI"/>
              </a:rPr>
              <a:t>Filtrer pour apprendre d'un bon joueur, pas de n'importe qui</a:t>
            </a:r>
          </a:p>
        </p:txBody>
      </p:sp>
      <p:sp>
        <p:nvSpPr>
          <p:cNvPr id="4" name="Rounded Rectangle 3"/>
          <p:cNvSpPr/>
          <p:nvPr/>
        </p:nvSpPr>
        <p:spPr>
          <a:xfrm>
            <a:off x="1196000" y="1900000"/>
            <a:ext cx="9800000" cy="560000"/>
          </a:xfrm>
          <a:prstGeom prst="roundRect">
            <a:avLst/>
          </a:prstGeom>
          <a:solidFill>
            <a:srgbClr val="FFFFFF"/>
          </a:solidFill>
          <a:ln w="15240">
            <a:solidFill>
              <a:srgbClr val="DDD6D9"/>
            </a:solid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300" b="0" i="0">
                <a:solidFill>
                  <a:srgbClr val="1C1A1B"/>
                </a:solidFill>
                <a:latin typeface="Segoe UI"/>
              </a:rPr>
              <a:t/>
            </a:r>
            <a:r>
              <a:rPr sz="1500" b="1" i="0">
                <a:solidFill>
                  <a:srgbClr val="1C1A1B"/>
                </a:solidFill>
                <a:latin typeface="Segoe UI"/>
              </a:rPr>
              <a:t>186 057 parties lues</a:t>
            </a:r>
          </a:p>
          <a:p>
            <a:pPr algn="ctr">
              <a:spcBef>
                <a:spcPts val="300"/>
              </a:spcBef>
            </a:pPr>
            <a:r>
              <a:rPr sz="1050" b="0" i="0">
                <a:solidFill>
                  <a:srgbClr val="5D5559"/>
                </a:solidFill>
                <a:latin typeface="Segoe UI"/>
              </a:rPr>
              <a:t>archive Lichess de janvier 2024, lue en flux (aucune decompression sur le disque)</a:t>
            </a:r>
          </a:p>
        </p:txBody>
      </p:sp>
      <p:cxnSp>
        <p:nvCxnSpPr>
          <p:cNvPr id="5" name="Connector 4"/>
          <p:cNvCxnSpPr/>
          <p:nvPr/>
        </p:nvCxnSpPr>
        <p:spPr>
          <a:xfrm>
            <a:off x="6096000" y="2400000"/>
            <a:ext cx="0" cy="90000"/>
          </a:xfrm>
          <a:prstGeom prst="line">
            <a:avLst/>
          </a:prstGeom>
          <a:ln w="30480">
            <a:solidFill>
              <a:srgbClr val="B8536E"/>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1496000" y="2550000"/>
            <a:ext cx="9200000" cy="780000"/>
          </a:xfrm>
          <a:prstGeom prst="round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300" b="0" i="0">
                <a:solidFill>
                  <a:srgbClr val="1C1A1B"/>
                </a:solidFill>
                <a:latin typeface="Segoe UI"/>
              </a:rPr>
              <a:t/>
            </a:r>
            <a:r>
              <a:rPr sz="1500" b="1" i="0">
                <a:solidFill>
                  <a:srgbClr val="1C1A1B"/>
                </a:solidFill>
                <a:latin typeface="Segoe UI"/>
              </a:rPr>
              <a:t>Filtres appliques</a:t>
            </a:r>
          </a:p>
          <a:p>
            <a:pPr algn="ctr">
              <a:spcBef>
                <a:spcPts val="300"/>
              </a:spcBef>
            </a:pPr>
            <a:r>
              <a:rPr sz="1050" b="0" i="0">
                <a:solidFill>
                  <a:srgbClr val="5D5559"/>
                </a:solidFill>
                <a:latin typeface="Segoe UI"/>
              </a:rPr>
              <a:t>Elo des deux joueurs &gt;= 2000  ·  cadence &gt;= 180 s (exclut le bullet)  ·  partie terminee  ·  8 premiers demi-coups ignores (ouverture memorisee)</a:t>
            </a:r>
          </a:p>
        </p:txBody>
      </p:sp>
      <p:cxnSp>
        <p:nvCxnSpPr>
          <p:cNvPr id="7" name="Connector 6"/>
          <p:cNvCxnSpPr/>
          <p:nvPr/>
        </p:nvCxnSpPr>
        <p:spPr>
          <a:xfrm>
            <a:off x="6096000" y="3270000"/>
            <a:ext cx="0" cy="90000"/>
          </a:xfrm>
          <a:prstGeom prst="line">
            <a:avLst/>
          </a:prstGeom>
          <a:ln w="30480">
            <a:solidFill>
              <a:srgbClr val="B8536E"/>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1796000" y="3420000"/>
            <a:ext cx="8600000" cy="560000"/>
          </a:xfrm>
          <a:prstGeom prst="roundRect">
            <a:avLst/>
          </a:prstGeom>
          <a:solidFill>
            <a:srgbClr val="FFFFFF"/>
          </a:solidFill>
          <a:ln w="15240">
            <a:solidFill>
              <a:srgbClr val="DDD6D9"/>
            </a:solid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300" b="0" i="0">
                <a:solidFill>
                  <a:srgbClr val="1C1A1B"/>
                </a:solidFill>
                <a:latin typeface="Segoe UI"/>
              </a:rPr>
              <a:t/>
            </a:r>
            <a:r>
              <a:rPr sz="1500" b="1" i="0">
                <a:solidFill>
                  <a:srgbClr val="1C1A1B"/>
                </a:solidFill>
                <a:latin typeface="Segoe UI"/>
              </a:rPr>
              <a:t>14 456 parties gardees</a:t>
            </a:r>
          </a:p>
          <a:p>
            <a:pPr algn="ctr">
              <a:spcBef>
                <a:spcPts val="300"/>
              </a:spcBef>
            </a:pPr>
            <a:r>
              <a:rPr sz="1050" b="0" i="0">
                <a:solidFill>
                  <a:srgbClr val="5D5559"/>
                </a:solidFill>
                <a:latin typeface="Segoe UI"/>
              </a:rPr>
              <a:t>soit 7,8 % des parties lues</a:t>
            </a:r>
          </a:p>
        </p:txBody>
      </p:sp>
      <p:cxnSp>
        <p:nvCxnSpPr>
          <p:cNvPr id="9" name="Connector 8"/>
          <p:cNvCxnSpPr/>
          <p:nvPr/>
        </p:nvCxnSpPr>
        <p:spPr>
          <a:xfrm>
            <a:off x="6096000" y="3920000"/>
            <a:ext cx="0" cy="90000"/>
          </a:xfrm>
          <a:prstGeom prst="line">
            <a:avLst/>
          </a:prstGeom>
          <a:ln w="30480">
            <a:solidFill>
              <a:srgbClr val="B8536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96000" y="4070000"/>
            <a:ext cx="10800000" cy="780000"/>
          </a:xfrm>
          <a:prstGeom prst="roundRect">
            <a:avLst/>
          </a:prstGeom>
          <a:solidFill>
            <a:srgbClr val="B853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300" b="0" i="0">
                <a:solidFill>
                  <a:srgbClr val="FFFFFF"/>
                </a:solidFill>
                <a:latin typeface="Segoe UI"/>
              </a:rPr>
              <a:t/>
            </a:r>
            <a:r>
              <a:rPr sz="1500" b="1" i="0">
                <a:solidFill>
                  <a:srgbClr val="FFFFFF"/>
                </a:solidFill>
                <a:latin typeface="Segoe UI"/>
              </a:rPr>
              <a:t>1 000 012 positions</a:t>
            </a:r>
          </a:p>
          <a:p>
            <a:pPr algn="ctr">
              <a:spcBef>
                <a:spcPts val="300"/>
              </a:spcBef>
            </a:pPr>
            <a:r>
              <a:rPr sz="1050" b="0" i="0">
                <a:solidFill>
                  <a:srgbClr val="FFFFFF"/>
                </a:solidFill>
                <a:latin typeface="Segoe UI"/>
              </a:rPr>
              <a:t>980 440 pour l'entrainement · 19 572 pour la validation (separees PAR PARTIE, jamais par position, pour eviter la fuite de donnees)</a:t>
            </a:r>
          </a:p>
        </p:txBody>
      </p:sp>
      <p:sp>
        <p:nvSpPr>
          <p:cNvPr id="11" name="TextBox 10"/>
          <p:cNvSpPr txBox="1"/>
          <p:nvPr/>
        </p:nvSpPr>
        <p:spPr>
          <a:xfrm>
            <a:off x="700000" y="6480000"/>
            <a:ext cx="10800000" cy="300000"/>
          </a:xfrm>
          <a:prstGeom prst="rect">
            <a:avLst/>
          </a:prstGeom>
          <a:noFill/>
        </p:spPr>
        <p:txBody>
          <a:bodyPr wrap="square" anchor="t">
            <a:spAutoFit/>
          </a:bodyPr>
          <a:lstStyle/>
          <a:p>
            <a:r>
              <a:rPr sz="950" b="0" i="0">
                <a:solidFill>
                  <a:srgbClr val="A59DA1"/>
                </a:solidFill>
                <a:latin typeface="Segoe UI"/>
              </a:rPr>
              <a:t>Chess Bot v1  ·  Donnees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00000" y="520000"/>
            <a:ext cx="90000" cy="760000"/>
          </a:xfrm>
          <a:prstGeom prst="rect">
            <a:avLst/>
          </a:prstGeom>
          <a:solidFill>
            <a:srgbClr val="B853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20000" y="470000"/>
            <a:ext cx="10500000" cy="1150000"/>
          </a:xfrm>
          <a:prstGeom prst="rect">
            <a:avLst/>
          </a:prstGeom>
          <a:noFill/>
        </p:spPr>
        <p:txBody>
          <a:bodyPr wrap="square" anchor="t">
            <a:spAutoFit/>
          </a:bodyPr>
          <a:lstStyle/>
          <a:p>
            <a:r>
              <a:rPr sz="1200" b="1" i="0">
                <a:solidFill>
                  <a:srgbClr val="B8536E"/>
                </a:solidFill>
                <a:latin typeface="Segoe UI"/>
              </a:rPr>
              <a:t>ENCODAGE</a:t>
            </a:r>
          </a:p>
          <a:p>
            <a:r>
              <a:rPr sz="3000" b="1" i="0">
                <a:solidFill>
                  <a:srgbClr val="1C1A1B"/>
                </a:solidFill>
                <a:latin typeface="Segoe UI"/>
              </a:rPr>
              <a:t>Etape 2 — Encoder une position</a:t>
            </a:r>
          </a:p>
          <a:p>
            <a:pPr>
              <a:spcBef>
                <a:spcPts val="400"/>
              </a:spcBef>
            </a:pPr>
            <a:r>
              <a:rPr sz="1500" b="0" i="0">
                <a:solidFill>
                  <a:srgbClr val="5D5559"/>
                </a:solidFill>
                <a:latin typeface="Segoe UI"/>
              </a:rPr>
              <a:t>Une position d'echecs devient une sequence de 68 nombres</a:t>
            </a:r>
          </a:p>
        </p:txBody>
      </p:sp>
      <p:sp>
        <p:nvSpPr>
          <p:cNvPr id="4" name="Rectangle 3"/>
          <p:cNvSpPr/>
          <p:nvPr/>
        </p:nvSpPr>
        <p:spPr>
          <a:xfrm>
            <a:off x="950000" y="205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180000" y="205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410000" y="205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640000" y="205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70000" y="205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100000" y="205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330000" y="205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560000" y="205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950000" y="228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180000" y="228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410000" y="228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640000" y="228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870000" y="228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100000" y="228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330000" y="228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560000" y="228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50000" y="251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180000" y="251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410000" y="251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640000" y="251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870000" y="251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100000" y="251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330000" y="251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560000" y="251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50000" y="274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80000" y="274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410000" y="274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640000" y="274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870000" y="274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2100000" y="274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2330000" y="274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2560000" y="274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0000" y="297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180000" y="297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410000" y="297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640000" y="297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870000" y="297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2100000" y="297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2330000" y="297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2560000" y="297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950000" y="320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1180000" y="320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1410000" y="320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1640000" y="320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1870000" y="320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2100000" y="320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2330000" y="320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2560000" y="320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950000" y="343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1180000" y="343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1410000" y="343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1640000" y="343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1870000" y="343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2100000" y="343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2330000" y="343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2560000" y="343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950000" y="366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1180000" y="366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1410000" y="366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1640000" y="366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1870000" y="366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2100000" y="366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2330000" y="3660000"/>
            <a:ext cx="230000" cy="230000"/>
          </a:xfrm>
          <a:prstGeom prst="rect">
            <a:avLst/>
          </a:prstGeom>
          <a:solidFill>
            <a:srgbClr val="5D55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2560000" y="3660000"/>
            <a:ext cx="230000" cy="230000"/>
          </a:xfrm>
          <a:prstGeom prst="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950000" y="3950000"/>
            <a:ext cx="1840000" cy="500000"/>
          </a:xfrm>
          <a:prstGeom prst="rect">
            <a:avLst/>
          </a:prstGeom>
          <a:noFill/>
        </p:spPr>
        <p:txBody>
          <a:bodyPr wrap="square" anchor="t">
            <a:spAutoFit/>
          </a:bodyPr>
          <a:lstStyle/>
          <a:p>
            <a:pPr algn="ctr"/>
            <a:r>
              <a:rPr sz="1100" b="0" i="1">
                <a:solidFill>
                  <a:srgbClr val="5D5559"/>
                </a:solidFill>
                <a:latin typeface="Segoe UI"/>
              </a:rPr>
              <a:t>L'echiquier : 64 cases</a:t>
            </a:r>
          </a:p>
        </p:txBody>
      </p:sp>
      <p:cxnSp>
        <p:nvCxnSpPr>
          <p:cNvPr id="69" name="Connector 68"/>
          <p:cNvCxnSpPr/>
          <p:nvPr/>
        </p:nvCxnSpPr>
        <p:spPr>
          <a:xfrm>
            <a:off x="2940000" y="2970000"/>
            <a:ext cx="600000" cy="0"/>
          </a:xfrm>
          <a:prstGeom prst="line">
            <a:avLst/>
          </a:prstGeom>
          <a:ln w="30480">
            <a:solidFill>
              <a:srgbClr val="B8536E"/>
            </a:solidFill>
            <a:tailEnd type="triangle" w="med" len="med"/>
          </a:ln>
        </p:spPr>
        <p:style>
          <a:lnRef idx="2">
            <a:schemeClr val="accent1"/>
          </a:lnRef>
          <a:fillRef idx="0">
            <a:schemeClr val="accent1"/>
          </a:fillRef>
          <a:effectRef idx="1">
            <a:schemeClr val="accent1"/>
          </a:effectRef>
          <a:fontRef idx="minor">
            <a:schemeClr val="tx1"/>
          </a:fontRef>
        </p:style>
      </p:cxnSp>
      <p:sp>
        <p:nvSpPr>
          <p:cNvPr id="70" name="Rounded Rectangle 69"/>
          <p:cNvSpPr/>
          <p:nvPr/>
        </p:nvSpPr>
        <p:spPr>
          <a:xfrm>
            <a:off x="3690000" y="2050000"/>
            <a:ext cx="4700000" cy="560000"/>
          </a:xfrm>
          <a:prstGeom prst="round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300" b="0" i="0">
                <a:solidFill>
                  <a:srgbClr val="1C1A1B"/>
                </a:solidFill>
                <a:latin typeface="Segoe UI"/>
              </a:rPr>
              <a:t/>
            </a:r>
            <a:r>
              <a:rPr sz="1300" b="1" i="0">
                <a:solidFill>
                  <a:srgbClr val="B8536E"/>
                </a:solidFill>
                <a:latin typeface="Segoe UI"/>
              </a:rPr>
              <a:t>tokens 0 - 63</a:t>
            </a:r>
          </a:p>
          <a:p>
            <a:pPr>
              <a:spcBef>
                <a:spcPts val="200"/>
              </a:spcBef>
            </a:pPr>
            <a:r>
              <a:rPr sz="1050" b="0" i="0">
                <a:solidFill>
                  <a:srgbClr val="5D5559"/>
                </a:solidFill>
                <a:latin typeface="Segoe UI"/>
              </a:rPr>
              <a:t>contenu de chaque case (0 = vide, 1-6 = pieces alliees, 7-12 = pieces adverses)</a:t>
            </a:r>
          </a:p>
        </p:txBody>
      </p:sp>
      <p:sp>
        <p:nvSpPr>
          <p:cNvPr id="71" name="Rounded Rectangle 70"/>
          <p:cNvSpPr/>
          <p:nvPr/>
        </p:nvSpPr>
        <p:spPr>
          <a:xfrm>
            <a:off x="3690000" y="2700000"/>
            <a:ext cx="4700000" cy="560000"/>
          </a:xfrm>
          <a:prstGeom prst="round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300" b="0" i="0">
                <a:solidFill>
                  <a:srgbClr val="1C1A1B"/>
                </a:solidFill>
                <a:latin typeface="Segoe UI"/>
              </a:rPr>
              <a:t/>
            </a:r>
            <a:r>
              <a:rPr sz="1300" b="1" i="0">
                <a:solidFill>
                  <a:srgbClr val="B8536E"/>
                </a:solidFill>
                <a:latin typeface="Segoe UI"/>
              </a:rPr>
              <a:t>token 64</a:t>
            </a:r>
          </a:p>
          <a:p>
            <a:pPr>
              <a:spcBef>
                <a:spcPts val="200"/>
              </a:spcBef>
            </a:pPr>
            <a:r>
              <a:rPr sz="1050" b="0" i="0">
                <a:solidFill>
                  <a:srgbClr val="5D5559"/>
                </a:solidFill>
                <a:latin typeface="Segoe UI"/>
              </a:rPr>
              <a:t>le trait (qui doit jouer)</a:t>
            </a:r>
          </a:p>
        </p:txBody>
      </p:sp>
      <p:sp>
        <p:nvSpPr>
          <p:cNvPr id="72" name="Rounded Rectangle 71"/>
          <p:cNvSpPr/>
          <p:nvPr/>
        </p:nvSpPr>
        <p:spPr>
          <a:xfrm>
            <a:off x="3690000" y="3350000"/>
            <a:ext cx="4700000" cy="560000"/>
          </a:xfrm>
          <a:prstGeom prst="round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300" b="0" i="0">
                <a:solidFill>
                  <a:srgbClr val="1C1A1B"/>
                </a:solidFill>
                <a:latin typeface="Segoe UI"/>
              </a:rPr>
              <a:t/>
            </a:r>
            <a:r>
              <a:rPr sz="1300" b="1" i="0">
                <a:solidFill>
                  <a:srgbClr val="B8536E"/>
                </a:solidFill>
                <a:latin typeface="Segoe UI"/>
              </a:rPr>
              <a:t>tokens 65 - 66</a:t>
            </a:r>
          </a:p>
          <a:p>
            <a:pPr>
              <a:spcBef>
                <a:spcPts val="200"/>
              </a:spcBef>
            </a:pPr>
            <a:r>
              <a:rPr sz="1050" b="0" i="0">
                <a:solidFill>
                  <a:srgbClr val="5D5559"/>
                </a:solidFill>
                <a:latin typeface="Segoe UI"/>
              </a:rPr>
              <a:t>droits de roque</a:t>
            </a:r>
          </a:p>
        </p:txBody>
      </p:sp>
      <p:sp>
        <p:nvSpPr>
          <p:cNvPr id="73" name="Rounded Rectangle 72"/>
          <p:cNvSpPr/>
          <p:nvPr/>
        </p:nvSpPr>
        <p:spPr>
          <a:xfrm>
            <a:off x="3690000" y="4000000"/>
            <a:ext cx="4700000" cy="560000"/>
          </a:xfrm>
          <a:prstGeom prst="round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300" b="0" i="0">
                <a:solidFill>
                  <a:srgbClr val="1C1A1B"/>
                </a:solidFill>
                <a:latin typeface="Segoe UI"/>
              </a:rPr>
              <a:t/>
            </a:r>
            <a:r>
              <a:rPr sz="1300" b="1" i="0">
                <a:solidFill>
                  <a:srgbClr val="B8536E"/>
                </a:solidFill>
                <a:latin typeface="Segoe UI"/>
              </a:rPr>
              <a:t>token 67</a:t>
            </a:r>
          </a:p>
          <a:p>
            <a:pPr>
              <a:spcBef>
                <a:spcPts val="200"/>
              </a:spcBef>
            </a:pPr>
            <a:r>
              <a:rPr sz="1050" b="0" i="0">
                <a:solidFill>
                  <a:srgbClr val="5D5559"/>
                </a:solidFill>
                <a:latin typeface="Segoe UI"/>
              </a:rPr>
              <a:t>case de prise en passant</a:t>
            </a:r>
          </a:p>
        </p:txBody>
      </p:sp>
      <p:sp>
        <p:nvSpPr>
          <p:cNvPr id="74" name="Rounded Rectangle 73"/>
          <p:cNvSpPr/>
          <p:nvPr/>
        </p:nvSpPr>
        <p:spPr>
          <a:xfrm>
            <a:off x="3690000" y="4650000"/>
            <a:ext cx="4700000" cy="500000"/>
          </a:xfrm>
          <a:prstGeom prst="roundRect">
            <a:avLst/>
          </a:prstGeom>
          <a:solidFill>
            <a:srgbClr val="B853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300" b="1" i="0">
                <a:solidFill>
                  <a:srgbClr val="FFFFFF"/>
                </a:solidFill>
                <a:latin typeface="Segoe UI"/>
              </a:rPr>
              <a:t>= 68 tokens en entree du reseau</a:t>
            </a:r>
          </a:p>
        </p:txBody>
      </p:sp>
      <p:sp>
        <p:nvSpPr>
          <p:cNvPr id="75" name="TextBox 74"/>
          <p:cNvSpPr txBox="1"/>
          <p:nvPr/>
        </p:nvSpPr>
        <p:spPr>
          <a:xfrm>
            <a:off x="700000" y="5980000"/>
            <a:ext cx="10800000" cy="500000"/>
          </a:xfrm>
          <a:prstGeom prst="rect">
            <a:avLst/>
          </a:prstGeom>
          <a:noFill/>
        </p:spPr>
        <p:txBody>
          <a:bodyPr wrap="square" anchor="t">
            <a:spAutoFit/>
          </a:bodyPr>
          <a:lstStyle/>
          <a:p>
            <a:pPr algn="ctr"/>
            <a:r>
              <a:rPr sz="1150" b="0" i="1">
                <a:solidFill>
                  <a:srgbClr val="5D5559"/>
                </a:solidFill>
                <a:latin typeface="Segoe UI"/>
              </a:rPr>
              <a:t>Astuce cle : l'echiquier est toujours retourne du point de vue du joueur au trait. Le modele n'apprend ainsi qu'un seul point de vue, deux fois plus vite.</a:t>
            </a:r>
          </a:p>
        </p:txBody>
      </p:sp>
      <p:sp>
        <p:nvSpPr>
          <p:cNvPr id="76" name="TextBox 75"/>
          <p:cNvSpPr txBox="1"/>
          <p:nvPr/>
        </p:nvSpPr>
        <p:spPr>
          <a:xfrm>
            <a:off x="700000" y="6480000"/>
            <a:ext cx="10800000" cy="300000"/>
          </a:xfrm>
          <a:prstGeom prst="rect">
            <a:avLst/>
          </a:prstGeom>
          <a:noFill/>
        </p:spPr>
        <p:txBody>
          <a:bodyPr wrap="square" anchor="t">
            <a:spAutoFit/>
          </a:bodyPr>
          <a:lstStyle/>
          <a:p>
            <a:r>
              <a:rPr sz="950" b="0" i="0">
                <a:solidFill>
                  <a:srgbClr val="A59DA1"/>
                </a:solidFill>
                <a:latin typeface="Segoe UI"/>
              </a:rPr>
              <a:t>Chess Bot v1  ·  Encodage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00000" y="520000"/>
            <a:ext cx="90000" cy="760000"/>
          </a:xfrm>
          <a:prstGeom prst="rect">
            <a:avLst/>
          </a:prstGeom>
          <a:solidFill>
            <a:srgbClr val="B853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20000" y="470000"/>
            <a:ext cx="10500000" cy="1150000"/>
          </a:xfrm>
          <a:prstGeom prst="rect">
            <a:avLst/>
          </a:prstGeom>
          <a:noFill/>
        </p:spPr>
        <p:txBody>
          <a:bodyPr wrap="square" anchor="t">
            <a:spAutoFit/>
          </a:bodyPr>
          <a:lstStyle/>
          <a:p>
            <a:r>
              <a:rPr sz="1200" b="1" i="0">
                <a:solidFill>
                  <a:srgbClr val="B8536E"/>
                </a:solidFill>
                <a:latin typeface="Segoe UI"/>
              </a:rPr>
              <a:t>ARCHITECTURE</a:t>
            </a:r>
          </a:p>
          <a:p>
            <a:r>
              <a:rPr sz="3000" b="1" i="0">
                <a:solidFill>
                  <a:srgbClr val="1C1A1B"/>
                </a:solidFill>
                <a:latin typeface="Segoe UI"/>
              </a:rPr>
              <a:t>Etape 3 — Le modele</a:t>
            </a:r>
          </a:p>
          <a:p>
            <a:pPr>
              <a:spcBef>
                <a:spcPts val="400"/>
              </a:spcBef>
            </a:pPr>
            <a:r>
              <a:rPr sz="1500" b="0" i="0">
                <a:solidFill>
                  <a:srgbClr val="5D5559"/>
                </a:solidFill>
                <a:latin typeface="Segoe UI"/>
              </a:rPr>
              <a:t>Un Transformer encodeur de 6,86 millions de parametres</a:t>
            </a:r>
          </a:p>
        </p:txBody>
      </p:sp>
      <p:sp>
        <p:nvSpPr>
          <p:cNvPr id="4" name="Rounded Rectangle 3"/>
          <p:cNvSpPr/>
          <p:nvPr/>
        </p:nvSpPr>
        <p:spPr>
          <a:xfrm>
            <a:off x="4496000" y="1850000"/>
            <a:ext cx="3200000" cy="480000"/>
          </a:xfrm>
          <a:prstGeom prst="roundRect">
            <a:avLst/>
          </a:prstGeom>
          <a:solidFill>
            <a:srgbClr val="1C1A1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300" b="1" i="0">
                <a:solidFill>
                  <a:srgbClr val="FFFFFF"/>
                </a:solidFill>
                <a:latin typeface="Segoe UI"/>
              </a:rPr>
              <a:t>Entree : 68 tokens</a:t>
            </a:r>
          </a:p>
        </p:txBody>
      </p:sp>
      <p:cxnSp>
        <p:nvCxnSpPr>
          <p:cNvPr id="5" name="Connector 4"/>
          <p:cNvCxnSpPr/>
          <p:nvPr/>
        </p:nvCxnSpPr>
        <p:spPr>
          <a:xfrm>
            <a:off x="6096000" y="2330000"/>
            <a:ext cx="0" cy="100000"/>
          </a:xfrm>
          <a:prstGeom prst="line">
            <a:avLst/>
          </a:prstGeom>
          <a:ln w="30480">
            <a:solidFill>
              <a:srgbClr val="B8536E"/>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3496000" y="2510000"/>
            <a:ext cx="5200000" cy="310000"/>
          </a:xfrm>
          <a:prstGeom prst="roundRect">
            <a:avLst/>
          </a:prstGeom>
          <a:solidFill>
            <a:srgbClr val="E7C6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150" b="0" i="0">
                <a:solidFill>
                  <a:srgbClr val="1C1A1B"/>
                </a:solidFill>
                <a:latin typeface="Segoe UI"/>
              </a:rPr>
              <a:t>Couche d'attention</a:t>
            </a:r>
          </a:p>
        </p:txBody>
      </p:sp>
      <p:sp>
        <p:nvSpPr>
          <p:cNvPr id="7" name="Rounded Rectangle 6"/>
          <p:cNvSpPr/>
          <p:nvPr/>
        </p:nvSpPr>
        <p:spPr>
          <a:xfrm>
            <a:off x="3496000" y="2890000"/>
            <a:ext cx="5200000" cy="310000"/>
          </a:xfrm>
          <a:prstGeom prst="roundRect">
            <a:avLst/>
          </a:prstGeom>
          <a:solidFill>
            <a:srgbClr val="E7C6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150" b="0" i="0">
                <a:solidFill>
                  <a:srgbClr val="1C1A1B"/>
                </a:solidFill>
                <a:latin typeface="Segoe UI"/>
              </a:rPr>
              <a:t>Couche d'attention</a:t>
            </a:r>
          </a:p>
        </p:txBody>
      </p:sp>
      <p:sp>
        <p:nvSpPr>
          <p:cNvPr id="8" name="Rounded Rectangle 7"/>
          <p:cNvSpPr/>
          <p:nvPr/>
        </p:nvSpPr>
        <p:spPr>
          <a:xfrm>
            <a:off x="3496000" y="3270000"/>
            <a:ext cx="5200000" cy="3100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150" b="0" i="0">
                <a:solidFill>
                  <a:srgbClr val="1C1A1B"/>
                </a:solidFill>
                <a:latin typeface="Segoe UI"/>
              </a:rPr>
              <a:t>…</a:t>
            </a:r>
          </a:p>
        </p:txBody>
      </p:sp>
      <p:sp>
        <p:nvSpPr>
          <p:cNvPr id="9" name="TextBox 8"/>
          <p:cNvSpPr txBox="1"/>
          <p:nvPr/>
        </p:nvSpPr>
        <p:spPr>
          <a:xfrm>
            <a:off x="3496000" y="3680000"/>
            <a:ext cx="5200000" cy="500000"/>
          </a:xfrm>
          <a:prstGeom prst="rect">
            <a:avLst/>
          </a:prstGeom>
          <a:noFill/>
        </p:spPr>
        <p:txBody>
          <a:bodyPr wrap="square" anchor="t">
            <a:spAutoFit/>
          </a:bodyPr>
          <a:lstStyle/>
          <a:p>
            <a:pPr algn="ctr"/>
            <a:r>
              <a:rPr sz="1150" b="0" i="0">
                <a:solidFill>
                  <a:srgbClr val="5D5559"/>
                </a:solidFill>
                <a:latin typeface="Segoe UI"/>
              </a:rPr>
              <a:t>x 8 couches  ·  8 tetes d'attention par couche  ·  dimension 256</a:t>
            </a:r>
          </a:p>
        </p:txBody>
      </p:sp>
      <p:cxnSp>
        <p:nvCxnSpPr>
          <p:cNvPr id="10" name="Connector 9"/>
          <p:cNvCxnSpPr/>
          <p:nvPr/>
        </p:nvCxnSpPr>
        <p:spPr>
          <a:xfrm>
            <a:off x="6096000" y="3990000"/>
            <a:ext cx="0" cy="340000"/>
          </a:xfrm>
          <a:prstGeom prst="line">
            <a:avLst/>
          </a:prstGeom>
          <a:ln w="30480">
            <a:solidFill>
              <a:srgbClr val="B8536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4496000" y="4330000"/>
            <a:ext cx="3200000" cy="480000"/>
          </a:xfrm>
          <a:prstGeom prst="roundRect">
            <a:avLst/>
          </a:prstGeom>
          <a:solidFill>
            <a:srgbClr val="B853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300" b="1" i="0">
                <a:solidFill>
                  <a:srgbClr val="FFFFFF"/>
                </a:solidFill>
                <a:latin typeface="Segoe UI"/>
              </a:rPr>
              <a:t>Sortie : 1 score par coup (1968)</a:t>
            </a:r>
          </a:p>
        </p:txBody>
      </p:sp>
      <p:sp>
        <p:nvSpPr>
          <p:cNvPr id="12" name="Rounded Rectangle 11"/>
          <p:cNvSpPr/>
          <p:nvPr/>
        </p:nvSpPr>
        <p:spPr>
          <a:xfrm>
            <a:off x="9296000" y="1900000"/>
            <a:ext cx="2600000" cy="950000"/>
          </a:xfrm>
          <a:prstGeom prst="round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150" b="0" i="0">
                <a:solidFill>
                  <a:srgbClr val="1C1A1B"/>
                </a:solidFill>
                <a:latin typeface="Segoe UI"/>
              </a:rPr>
              <a:t>6 858 416</a:t>
            </a:r>
          </a:p>
          <a:p>
            <a:pPr algn="ctr"/>
            <a:r>
              <a:rPr sz="1150" b="0" i="0">
                <a:solidFill>
                  <a:srgbClr val="1C1A1B"/>
                </a:solidFill>
                <a:latin typeface="Segoe UI"/>
              </a:rPr>
              <a:t>parametres au total</a:t>
            </a:r>
          </a:p>
        </p:txBody>
      </p:sp>
      <p:sp>
        <p:nvSpPr>
          <p:cNvPr id="13" name="Rounded Rectangle 12"/>
          <p:cNvSpPr/>
          <p:nvPr/>
        </p:nvSpPr>
        <p:spPr>
          <a:xfrm>
            <a:off x="9296000" y="2950000"/>
            <a:ext cx="2600000" cy="950000"/>
          </a:xfrm>
          <a:prstGeom prst="round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150" b="0" i="0">
                <a:solidFill>
                  <a:srgbClr val="1C1A1B"/>
                </a:solidFill>
                <a:latin typeface="Segoe UI"/>
              </a:rPr>
              <a:t>Pre-normalisation</a:t>
            </a:r>
          </a:p>
          <a:p>
            <a:pPr algn="ctr"/>
            <a:r>
              <a:rPr sz="1150" b="0" i="0">
                <a:solidFill>
                  <a:srgbClr val="1C1A1B"/>
                </a:solidFill>
                <a:latin typeface="Segoe UI"/>
              </a:rPr>
              <a:t>stabilise l'entrainement d'un reseau profond</a:t>
            </a:r>
          </a:p>
        </p:txBody>
      </p:sp>
      <p:sp>
        <p:nvSpPr>
          <p:cNvPr id="14" name="Rounded Rectangle 13"/>
          <p:cNvSpPr/>
          <p:nvPr/>
        </p:nvSpPr>
        <p:spPr>
          <a:xfrm>
            <a:off x="9296000" y="4000000"/>
            <a:ext cx="2600000" cy="950000"/>
          </a:xfrm>
          <a:prstGeom prst="round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150" b="0" i="0">
                <a:solidFill>
                  <a:srgbClr val="1C1A1B"/>
                </a:solidFill>
                <a:latin typeface="Segoe UI"/>
              </a:rPr>
              <a:t>Attention</a:t>
            </a:r>
          </a:p>
          <a:p>
            <a:pPr algn="ctr"/>
            <a:r>
              <a:rPr sz="1150" b="0" i="0">
                <a:solidFill>
                  <a:srgbClr val="1C1A1B"/>
                </a:solidFill>
                <a:latin typeface="Segoe UI"/>
              </a:rPr>
              <a:t>relie directement 2 cases eloignees - utile pour une tour ou un fou</a:t>
            </a:r>
          </a:p>
        </p:txBody>
      </p:sp>
      <p:sp>
        <p:nvSpPr>
          <p:cNvPr id="15" name="TextBox 14"/>
          <p:cNvSpPr txBox="1"/>
          <p:nvPr/>
        </p:nvSpPr>
        <p:spPr>
          <a:xfrm>
            <a:off x="700000" y="6480000"/>
            <a:ext cx="10800000" cy="300000"/>
          </a:xfrm>
          <a:prstGeom prst="rect">
            <a:avLst/>
          </a:prstGeom>
          <a:noFill/>
        </p:spPr>
        <p:txBody>
          <a:bodyPr wrap="square" anchor="t">
            <a:spAutoFit/>
          </a:bodyPr>
          <a:lstStyle/>
          <a:p>
            <a:r>
              <a:rPr sz="950" b="0" i="0">
                <a:solidFill>
                  <a:srgbClr val="A59DA1"/>
                </a:solidFill>
                <a:latin typeface="Segoe UI"/>
              </a:rPr>
              <a:t>Chess Bot v1  ·  Architecture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00000" y="520000"/>
            <a:ext cx="90000" cy="760000"/>
          </a:xfrm>
          <a:prstGeom prst="rect">
            <a:avLst/>
          </a:prstGeom>
          <a:solidFill>
            <a:srgbClr val="B853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20000" y="470000"/>
            <a:ext cx="10500000" cy="1150000"/>
          </a:xfrm>
          <a:prstGeom prst="rect">
            <a:avLst/>
          </a:prstGeom>
          <a:noFill/>
        </p:spPr>
        <p:txBody>
          <a:bodyPr wrap="square" anchor="t">
            <a:spAutoFit/>
          </a:bodyPr>
          <a:lstStyle/>
          <a:p>
            <a:r>
              <a:rPr sz="1200" b="1" i="0">
                <a:solidFill>
                  <a:srgbClr val="B8536E"/>
                </a:solidFill>
                <a:latin typeface="Segoe UI"/>
              </a:rPr>
              <a:t>ARCHITECTURE</a:t>
            </a:r>
          </a:p>
          <a:p>
            <a:r>
              <a:rPr sz="3000" b="1" i="0">
                <a:solidFill>
                  <a:srgbClr val="1C1A1B"/>
                </a:solidFill>
                <a:latin typeface="Segoe UI"/>
              </a:rPr>
              <a:t>Choisir un coup legal</a:t>
            </a:r>
          </a:p>
          <a:p>
            <a:pPr>
              <a:spcBef>
                <a:spcPts val="400"/>
              </a:spcBef>
            </a:pPr>
            <a:r>
              <a:rPr sz="1500" b="0" i="0">
                <a:solidFill>
                  <a:srgbClr val="5D5559"/>
                </a:solidFill>
                <a:latin typeface="Segoe UI"/>
              </a:rPr>
              <a:t>Le bot ne peut pas tricher — par construction du calcul</a:t>
            </a:r>
          </a:p>
        </p:txBody>
      </p:sp>
      <p:sp>
        <p:nvSpPr>
          <p:cNvPr id="4" name="Rounded Rectangle 3"/>
          <p:cNvSpPr/>
          <p:nvPr/>
        </p:nvSpPr>
        <p:spPr>
          <a:xfrm>
            <a:off x="676000" y="2350000"/>
            <a:ext cx="2500000" cy="1500000"/>
          </a:xfrm>
          <a:prstGeom prst="roundRect">
            <a:avLst/>
          </a:prstGeom>
          <a:solidFill>
            <a:srgbClr val="F1EC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300" b="0" i="0">
                <a:solidFill>
                  <a:srgbClr val="1C1A1B"/>
                </a:solidFill>
                <a:latin typeface="Segoe UI"/>
              </a:rPr>
              <a:t>Le reseau note</a:t>
            </a:r>
          </a:p>
          <a:p>
            <a:pPr algn="ctr"/>
            <a:r>
              <a:rPr sz="1300" b="0" i="0">
                <a:solidFill>
                  <a:srgbClr val="1C1A1B"/>
                </a:solidFill>
                <a:latin typeface="Segoe UI"/>
              </a:rPr>
              <a:t>les 1968 coups</a:t>
            </a:r>
          </a:p>
        </p:txBody>
      </p:sp>
      <p:cxnSp>
        <p:nvCxnSpPr>
          <p:cNvPr id="5" name="Connector 4"/>
          <p:cNvCxnSpPr/>
          <p:nvPr/>
        </p:nvCxnSpPr>
        <p:spPr>
          <a:xfrm>
            <a:off x="3218000" y="3100000"/>
            <a:ext cx="196000" cy="0"/>
          </a:xfrm>
          <a:prstGeom prst="line">
            <a:avLst/>
          </a:prstGeom>
          <a:ln w="30480">
            <a:solidFill>
              <a:srgbClr val="B8536E"/>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3456000" y="2350000"/>
            <a:ext cx="2500000" cy="1500000"/>
          </a:xfrm>
          <a:prstGeom prst="roundRect">
            <a:avLst/>
          </a:prstGeom>
          <a:solidFill>
            <a:srgbClr val="E7C6C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300" b="0" i="0">
                <a:solidFill>
                  <a:srgbClr val="1C1A1B"/>
                </a:solidFill>
                <a:latin typeface="Segoe UI"/>
              </a:rPr>
              <a:t>On repere les coups</a:t>
            </a:r>
          </a:p>
          <a:p>
            <a:pPr algn="ctr"/>
            <a:r>
              <a:rPr sz="1300" b="0" i="0">
                <a:solidFill>
                  <a:srgbClr val="1C1A1B"/>
                </a:solidFill>
                <a:latin typeface="Segoe UI"/>
              </a:rPr>
              <a:t>ILLEGAUX dans</a:t>
            </a:r>
          </a:p>
          <a:p>
            <a:pPr algn="ctr"/>
            <a:r>
              <a:rPr sz="1300" b="0" i="0">
                <a:solidFill>
                  <a:srgbClr val="1C1A1B"/>
                </a:solidFill>
                <a:latin typeface="Segoe UI"/>
              </a:rPr>
              <a:t>la position actuelle</a:t>
            </a:r>
          </a:p>
        </p:txBody>
      </p:sp>
      <p:cxnSp>
        <p:nvCxnSpPr>
          <p:cNvPr id="7" name="Connector 6"/>
          <p:cNvCxnSpPr/>
          <p:nvPr/>
        </p:nvCxnSpPr>
        <p:spPr>
          <a:xfrm>
            <a:off x="5998000" y="3100000"/>
            <a:ext cx="196000" cy="0"/>
          </a:xfrm>
          <a:prstGeom prst="line">
            <a:avLst/>
          </a:prstGeom>
          <a:ln w="30480">
            <a:solidFill>
              <a:srgbClr val="B8536E"/>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6236000" y="2350000"/>
            <a:ext cx="2500000" cy="1500000"/>
          </a:xfrm>
          <a:prstGeom prst="roundRect">
            <a:avLst/>
          </a:prstGeom>
          <a:solidFill>
            <a:srgbClr val="1C1A1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300" b="0" i="0">
                <a:solidFill>
                  <a:srgbClr val="FFFFFF"/>
                </a:solidFill>
                <a:latin typeface="Segoe UI"/>
              </a:rPr>
              <a:t>Leur score devient</a:t>
            </a:r>
          </a:p>
          <a:p>
            <a:pPr algn="ctr"/>
            <a:r>
              <a:rPr sz="1300" b="0" i="0">
                <a:solidFill>
                  <a:srgbClr val="FFFFFF"/>
                </a:solidFill>
                <a:latin typeface="Segoe UI"/>
              </a:rPr>
              <a:t>-l'infini</a:t>
            </a:r>
          </a:p>
        </p:txBody>
      </p:sp>
      <p:cxnSp>
        <p:nvCxnSpPr>
          <p:cNvPr id="9" name="Connector 8"/>
          <p:cNvCxnSpPr/>
          <p:nvPr/>
        </p:nvCxnSpPr>
        <p:spPr>
          <a:xfrm>
            <a:off x="8778000" y="3100000"/>
            <a:ext cx="196000" cy="0"/>
          </a:xfrm>
          <a:prstGeom prst="line">
            <a:avLst/>
          </a:prstGeom>
          <a:ln w="30480">
            <a:solidFill>
              <a:srgbClr val="B8536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9016000" y="2350000"/>
            <a:ext cx="2500000" cy="1500000"/>
          </a:xfrm>
          <a:prstGeom prst="roundRect">
            <a:avLst/>
          </a:prstGeom>
          <a:solidFill>
            <a:srgbClr val="B853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0000" rIns="80000"/>
          <a:lstStyle/>
          <a:p>
            <a:pPr algn="ctr"/>
            <a:r>
              <a:rPr sz="1300" b="1" i="0">
                <a:solidFill>
                  <a:srgbClr val="FFFFFF"/>
                </a:solidFill>
                <a:latin typeface="Segoe UI"/>
              </a:rPr>
              <a:t>On garde le</a:t>
            </a:r>
          </a:p>
          <a:p>
            <a:pPr algn="ctr"/>
            <a:r>
              <a:rPr sz="1300" b="1" i="0">
                <a:solidFill>
                  <a:srgbClr val="FFFFFF"/>
                </a:solidFill>
                <a:latin typeface="Segoe UI"/>
              </a:rPr>
              <a:t>meilleur score</a:t>
            </a:r>
          </a:p>
          <a:p>
            <a:pPr algn="ctr"/>
            <a:r>
              <a:rPr sz="1300" b="1" i="0">
                <a:solidFill>
                  <a:srgbClr val="FFFFFF"/>
                </a:solidFill>
                <a:latin typeface="Segoe UI"/>
              </a:rPr>
              <a:t>restant</a:t>
            </a:r>
          </a:p>
        </p:txBody>
      </p:sp>
      <p:sp>
        <p:nvSpPr>
          <p:cNvPr id="11" name="TextBox 10"/>
          <p:cNvSpPr txBox="1"/>
          <p:nvPr/>
        </p:nvSpPr>
        <p:spPr>
          <a:xfrm>
            <a:off x="700000" y="4300000"/>
            <a:ext cx="10800000" cy="500000"/>
          </a:xfrm>
          <a:prstGeom prst="rect">
            <a:avLst/>
          </a:prstGeom>
          <a:noFill/>
        </p:spPr>
        <p:txBody>
          <a:bodyPr wrap="square" anchor="t">
            <a:spAutoFit/>
          </a:bodyPr>
          <a:lstStyle/>
          <a:p>
            <a:pPr algn="ctr"/>
            <a:r>
              <a:rPr sz="1300" b="0" i="0">
                <a:solidFill>
                  <a:srgbClr val="5D5559"/>
                </a:solidFill>
                <a:latin typeface="Segoe UI"/>
              </a:rPr>
              <a:t>Un score de moins l'infini ne peut jamais etre le maximum : le coup illegal ne peut donc jamais etre choisi, quelle que soit la position.</a:t>
            </a:r>
          </a:p>
        </p:txBody>
      </p:sp>
      <p:sp>
        <p:nvSpPr>
          <p:cNvPr id="12" name="TextBox 11"/>
          <p:cNvSpPr txBox="1"/>
          <p:nvPr/>
        </p:nvSpPr>
        <p:spPr>
          <a:xfrm>
            <a:off x="700000" y="6480000"/>
            <a:ext cx="10800000" cy="300000"/>
          </a:xfrm>
          <a:prstGeom prst="rect">
            <a:avLst/>
          </a:prstGeom>
          <a:noFill/>
        </p:spPr>
        <p:txBody>
          <a:bodyPr wrap="square" anchor="t">
            <a:spAutoFit/>
          </a:bodyPr>
          <a:lstStyle/>
          <a:p>
            <a:r>
              <a:rPr sz="950" b="0" i="0">
                <a:solidFill>
                  <a:srgbClr val="A59DA1"/>
                </a:solidFill>
                <a:latin typeface="Segoe UI"/>
              </a:rPr>
              <a:t>Chess Bot v1  ·  Architecture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00000" y="520000"/>
            <a:ext cx="90000" cy="760000"/>
          </a:xfrm>
          <a:prstGeom prst="rect">
            <a:avLst/>
          </a:prstGeom>
          <a:solidFill>
            <a:srgbClr val="B853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20000" y="470000"/>
            <a:ext cx="10500000" cy="1150000"/>
          </a:xfrm>
          <a:prstGeom prst="rect">
            <a:avLst/>
          </a:prstGeom>
          <a:noFill/>
        </p:spPr>
        <p:txBody>
          <a:bodyPr wrap="square" anchor="t">
            <a:spAutoFit/>
          </a:bodyPr>
          <a:lstStyle/>
          <a:p>
            <a:r>
              <a:rPr sz="1200" b="1" i="0">
                <a:solidFill>
                  <a:srgbClr val="B8536E"/>
                </a:solidFill>
                <a:latin typeface="Segoe UI"/>
              </a:rPr>
              <a:t>ENTRAINEMENT</a:t>
            </a:r>
          </a:p>
          <a:p>
            <a:r>
              <a:rPr sz="3000" b="1" i="0">
                <a:solidFill>
                  <a:srgbClr val="1C1A1B"/>
                </a:solidFill>
                <a:latin typeface="Segoe UI"/>
              </a:rPr>
              <a:t>L'entrainement</a:t>
            </a:r>
          </a:p>
          <a:p>
            <a:pPr>
              <a:spcBef>
                <a:spcPts val="400"/>
              </a:spcBef>
            </a:pPr>
            <a:r>
              <a:rPr sz="1500" b="0" i="0">
                <a:solidFill>
                  <a:srgbClr val="5D5559"/>
                </a:solidFill>
                <a:latin typeface="Segoe UI"/>
              </a:rPr>
              <a:t>4 epoques sur 1 million de positions — GPU T4 gratuit (Google Colab)</a:t>
            </a:r>
          </a:p>
        </p:txBody>
      </p:sp>
      <p:pic>
        <p:nvPicPr>
          <p:cNvPr id="4" name="Picture 3" descr="courbes_entrainement.png"/>
          <p:cNvPicPr>
            <a:picLocks noChangeAspect="1"/>
          </p:cNvPicPr>
          <p:nvPr/>
        </p:nvPicPr>
        <p:blipFill>
          <a:blip r:embed="rId2"/>
          <a:stretch>
            <a:fillRect/>
          </a:stretch>
        </p:blipFill>
        <p:spPr>
          <a:xfrm>
            <a:off x="746000" y="1750000"/>
            <a:ext cx="10700000" cy="3242045"/>
          </a:xfrm>
          <a:prstGeom prst="rect">
            <a:avLst/>
          </a:prstGeom>
        </p:spPr>
      </p:pic>
      <p:sp>
        <p:nvSpPr>
          <p:cNvPr id="5" name="TextBox 4"/>
          <p:cNvSpPr txBox="1"/>
          <p:nvPr/>
        </p:nvSpPr>
        <p:spPr>
          <a:xfrm>
            <a:off x="700000" y="6180000"/>
            <a:ext cx="10800000" cy="500000"/>
          </a:xfrm>
          <a:prstGeom prst="rect">
            <a:avLst/>
          </a:prstGeom>
          <a:noFill/>
        </p:spPr>
        <p:txBody>
          <a:bodyPr wrap="square" anchor="t">
            <a:spAutoFit/>
          </a:bodyPr>
          <a:lstStyle/>
          <a:p>
            <a:pPr algn="ctr"/>
            <a:r>
              <a:rPr sz="1150" b="0" i="1">
                <a:solidFill>
                  <a:srgbClr val="5D5559"/>
                </a:solidFill>
                <a:latin typeface="Segoe UI"/>
              </a:rPr>
              <a:t>La perte descend regulierement sous le niveau du hasard (ligne pointillee), sans surapprentissage : les courbes d'entrainement et de validation restent proches.</a:t>
            </a:r>
          </a:p>
        </p:txBody>
      </p:sp>
      <p:sp>
        <p:nvSpPr>
          <p:cNvPr id="6" name="TextBox 5"/>
          <p:cNvSpPr txBox="1"/>
          <p:nvPr/>
        </p:nvSpPr>
        <p:spPr>
          <a:xfrm>
            <a:off x="700000" y="6480000"/>
            <a:ext cx="10800000" cy="300000"/>
          </a:xfrm>
          <a:prstGeom prst="rect">
            <a:avLst/>
          </a:prstGeom>
          <a:noFill/>
        </p:spPr>
        <p:txBody>
          <a:bodyPr wrap="square" anchor="t">
            <a:spAutoFit/>
          </a:bodyPr>
          <a:lstStyle/>
          <a:p>
            <a:r>
              <a:rPr sz="950" b="0" i="0">
                <a:solidFill>
                  <a:srgbClr val="A59DA1"/>
                </a:solidFill>
                <a:latin typeface="Segoe UI"/>
              </a:rPr>
              <a:t>Chess Bot v1  ·  Resultats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00000" y="520000"/>
            <a:ext cx="90000" cy="760000"/>
          </a:xfrm>
          <a:prstGeom prst="rect">
            <a:avLst/>
          </a:prstGeom>
          <a:solidFill>
            <a:srgbClr val="B853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20000" y="470000"/>
            <a:ext cx="10500000" cy="1150000"/>
          </a:xfrm>
          <a:prstGeom prst="rect">
            <a:avLst/>
          </a:prstGeom>
          <a:noFill/>
        </p:spPr>
        <p:txBody>
          <a:bodyPr wrap="square" anchor="t">
            <a:spAutoFit/>
          </a:bodyPr>
          <a:lstStyle/>
          <a:p>
            <a:r>
              <a:rPr sz="1200" b="1" i="0">
                <a:solidFill>
                  <a:srgbClr val="B8536E"/>
                </a:solidFill>
                <a:latin typeface="Segoe UI"/>
              </a:rPr>
              <a:t>RESULTATS</a:t>
            </a:r>
          </a:p>
          <a:p>
            <a:r>
              <a:rPr sz="3000" b="1" i="0">
                <a:solidFill>
                  <a:srgbClr val="1C1A1B"/>
                </a:solidFill>
                <a:latin typeface="Segoe UI"/>
              </a:rPr>
              <a:t>Il a appris les ouvertures</a:t>
            </a:r>
          </a:p>
          <a:p>
            <a:pPr>
              <a:spcBef>
                <a:spcPts val="400"/>
              </a:spcBef>
            </a:pPr>
            <a:r>
              <a:rPr sz="1500" b="0" i="0">
                <a:solidFill>
                  <a:srgbClr val="5D5559"/>
                </a:solidFill>
                <a:latin typeface="Segoe UI"/>
              </a:rPr>
              <a:t>Sans qu'aucune regle ne lui ait ete enseignee</a:t>
            </a:r>
          </a:p>
        </p:txBody>
      </p:sp>
      <p:pic>
        <p:nvPicPr>
          <p:cNvPr id="4" name="Picture 3" descr="ouverture_echiquier.png"/>
          <p:cNvPicPr>
            <a:picLocks noChangeAspect="1"/>
          </p:cNvPicPr>
          <p:nvPr/>
        </p:nvPicPr>
        <p:blipFill>
          <a:blip r:embed="rId2"/>
          <a:stretch>
            <a:fillRect/>
          </a:stretch>
        </p:blipFill>
        <p:spPr>
          <a:xfrm>
            <a:off x="1057694" y="1750000"/>
            <a:ext cx="10076612" cy="4600000"/>
          </a:xfrm>
          <a:prstGeom prst="rect">
            <a:avLst/>
          </a:prstGeom>
        </p:spPr>
      </p:pic>
      <p:sp>
        <p:nvSpPr>
          <p:cNvPr id="5" name="TextBox 4"/>
          <p:cNvSpPr txBox="1"/>
          <p:nvPr/>
        </p:nvSpPr>
        <p:spPr>
          <a:xfrm>
            <a:off x="700000" y="6180000"/>
            <a:ext cx="10800000" cy="500000"/>
          </a:xfrm>
          <a:prstGeom prst="rect">
            <a:avLst/>
          </a:prstGeom>
          <a:noFill/>
        </p:spPr>
        <p:txBody>
          <a:bodyPr wrap="square" anchor="t">
            <a:spAutoFit/>
          </a:bodyPr>
          <a:lstStyle/>
          <a:p>
            <a:pPr algn="ctr"/>
            <a:r>
              <a:rPr sz="1150" b="0" i="1">
                <a:solidFill>
                  <a:srgbClr val="5D5559"/>
                </a:solidFill>
                <a:latin typeface="Segoe UI"/>
              </a:rPr>
              <a:t>Dans la position de depart, le reseau concentre ses propositions sur le developpement des cavaliers et l'occupation du centre — des principes d'ouverture reels.</a:t>
            </a:r>
          </a:p>
        </p:txBody>
      </p:sp>
      <p:sp>
        <p:nvSpPr>
          <p:cNvPr id="6" name="TextBox 5"/>
          <p:cNvSpPr txBox="1"/>
          <p:nvPr/>
        </p:nvSpPr>
        <p:spPr>
          <a:xfrm>
            <a:off x="700000" y="6480000"/>
            <a:ext cx="10800000" cy="300000"/>
          </a:xfrm>
          <a:prstGeom prst="rect">
            <a:avLst/>
          </a:prstGeom>
          <a:noFill/>
        </p:spPr>
        <p:txBody>
          <a:bodyPr wrap="square" anchor="t">
            <a:spAutoFit/>
          </a:bodyPr>
          <a:lstStyle/>
          <a:p>
            <a:r>
              <a:rPr sz="950" b="0" i="0">
                <a:solidFill>
                  <a:srgbClr val="A59DA1"/>
                </a:solidFill>
                <a:latin typeface="Segoe UI"/>
              </a:rPr>
              <a:t>Chess Bot v1  ·  Resultats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00000" y="520000"/>
            <a:ext cx="90000" cy="760000"/>
          </a:xfrm>
          <a:prstGeom prst="rect">
            <a:avLst/>
          </a:prstGeom>
          <a:solidFill>
            <a:srgbClr val="B853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20000" y="470000"/>
            <a:ext cx="10500000" cy="1150000"/>
          </a:xfrm>
          <a:prstGeom prst="rect">
            <a:avLst/>
          </a:prstGeom>
          <a:noFill/>
        </p:spPr>
        <p:txBody>
          <a:bodyPr wrap="square" anchor="t">
            <a:spAutoFit/>
          </a:bodyPr>
          <a:lstStyle/>
          <a:p>
            <a:r>
              <a:rPr sz="1200" b="1" i="0">
                <a:solidFill>
                  <a:srgbClr val="B8536E"/>
                </a:solidFill>
                <a:latin typeface="Segoe UI"/>
              </a:rPr>
              <a:t>RESULTATS</a:t>
            </a:r>
          </a:p>
          <a:p>
            <a:r>
              <a:rPr sz="3000" b="1" i="0">
                <a:solidFill>
                  <a:srgbClr val="1C1A1B"/>
                </a:solidFill>
                <a:latin typeface="Segoe UI"/>
              </a:rPr>
              <a:t>Le niveau mesure en parties reelles</a:t>
            </a:r>
          </a:p>
          <a:p>
            <a:pPr>
              <a:spcBef>
                <a:spcPts val="400"/>
              </a:spcBef>
            </a:pPr>
            <a:r>
              <a:rPr sz="1500" b="0" i="0">
                <a:solidFill>
                  <a:srgbClr val="5D5559"/>
                </a:solidFill>
                <a:latin typeface="Segoe UI"/>
              </a:rPr>
              <a:t>60 parties par adversaire, couleurs alternees, intervalles de confiance de Wilson (95 %)</a:t>
            </a:r>
          </a:p>
        </p:txBody>
      </p:sp>
      <p:pic>
        <p:nvPicPr>
          <p:cNvPr id="4" name="Picture 3" descr="elo_resultats.png"/>
          <p:cNvPicPr>
            <a:picLocks noChangeAspect="1"/>
          </p:cNvPicPr>
          <p:nvPr/>
        </p:nvPicPr>
        <p:blipFill>
          <a:blip r:embed="rId2"/>
          <a:stretch>
            <a:fillRect/>
          </a:stretch>
        </p:blipFill>
        <p:spPr>
          <a:xfrm>
            <a:off x="1477403" y="1750000"/>
            <a:ext cx="9237193" cy="4300000"/>
          </a:xfrm>
          <a:prstGeom prst="rect">
            <a:avLst/>
          </a:prstGeom>
        </p:spPr>
      </p:pic>
      <p:sp>
        <p:nvSpPr>
          <p:cNvPr id="5" name="TextBox 4"/>
          <p:cNvSpPr txBox="1"/>
          <p:nvPr/>
        </p:nvSpPr>
        <p:spPr>
          <a:xfrm>
            <a:off x="700000" y="6180000"/>
            <a:ext cx="10800000" cy="500000"/>
          </a:xfrm>
          <a:prstGeom prst="rect">
            <a:avLst/>
          </a:prstGeom>
          <a:noFill/>
        </p:spPr>
        <p:txBody>
          <a:bodyPr wrap="square" anchor="t">
            <a:spAutoFit/>
          </a:bodyPr>
          <a:lstStyle/>
          <a:p>
            <a:pPr algn="ctr"/>
            <a:r>
              <a:rPr sz="1150" b="0" i="1">
                <a:solidFill>
                  <a:srgbClr val="5D5559"/>
                </a:solidFill>
                <a:latin typeface="Segoe UI"/>
              </a:rPr>
              <a:t>Face a Stockfish bride a son niveau minimum (1320), le bot perd toutes ses parties : son niveau reel est nettement en dessous.</a:t>
            </a:r>
          </a:p>
        </p:txBody>
      </p:sp>
      <p:sp>
        <p:nvSpPr>
          <p:cNvPr id="6" name="TextBox 5"/>
          <p:cNvSpPr txBox="1"/>
          <p:nvPr/>
        </p:nvSpPr>
        <p:spPr>
          <a:xfrm>
            <a:off x="700000" y="6480000"/>
            <a:ext cx="10800000" cy="300000"/>
          </a:xfrm>
          <a:prstGeom prst="rect">
            <a:avLst/>
          </a:prstGeom>
          <a:noFill/>
        </p:spPr>
        <p:txBody>
          <a:bodyPr wrap="square" anchor="t">
            <a:spAutoFit/>
          </a:bodyPr>
          <a:lstStyle/>
          <a:p>
            <a:r>
              <a:rPr sz="950" b="0" i="0">
                <a:solidFill>
                  <a:srgbClr val="A59DA1"/>
                </a:solidFill>
                <a:latin typeface="Segoe UI"/>
              </a:rPr>
              <a:t>Chess Bot v1  ·  Resultats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00000" y="520000"/>
            <a:ext cx="90000" cy="760000"/>
          </a:xfrm>
          <a:prstGeom prst="rect">
            <a:avLst/>
          </a:prstGeom>
          <a:solidFill>
            <a:srgbClr val="B853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20000" y="470000"/>
            <a:ext cx="10500000" cy="1150000"/>
          </a:xfrm>
          <a:prstGeom prst="rect">
            <a:avLst/>
          </a:prstGeom>
          <a:noFill/>
        </p:spPr>
        <p:txBody>
          <a:bodyPr wrap="square" anchor="t">
            <a:spAutoFit/>
          </a:bodyPr>
          <a:lstStyle/>
          <a:p>
            <a:r>
              <a:rPr sz="1200" b="1" i="0">
                <a:solidFill>
                  <a:srgbClr val="B8536E"/>
                </a:solidFill>
                <a:latin typeface="Segoe UI"/>
              </a:rPr>
              <a:t>DISCUSSION</a:t>
            </a:r>
          </a:p>
          <a:p>
            <a:r>
              <a:rPr sz="3000" b="1" i="0">
                <a:solidFill>
                  <a:srgbClr val="1C1A1B"/>
                </a:solidFill>
                <a:latin typeface="Segoe UI"/>
              </a:rPr>
              <a:t>Analyse : ce que ca revele</a:t>
            </a:r>
          </a:p>
        </p:txBody>
      </p:sp>
      <p:sp>
        <p:nvSpPr>
          <p:cNvPr id="4" name="TextBox 3"/>
          <p:cNvSpPr txBox="1"/>
          <p:nvPr/>
        </p:nvSpPr>
        <p:spPr>
          <a:xfrm>
            <a:off x="920000" y="1750000"/>
            <a:ext cx="10400000" cy="4500000"/>
          </a:xfrm>
          <a:prstGeom prst="rect">
            <a:avLst/>
          </a:prstGeom>
          <a:noFill/>
        </p:spPr>
        <p:txBody>
          <a:bodyPr wrap="square" anchor="t">
            <a:spAutoFit/>
          </a:bodyPr>
          <a:lstStyle/>
          <a:p>
            <a:pPr>
              <a:spcAft>
                <a:spcPts val="1800"/>
              </a:spcAft>
            </a:pPr>
            <a:r>
              <a:rPr sz="1600" b="1">
                <a:solidFill>
                  <a:srgbClr val="B8536E"/>
                </a:solidFill>
                <a:latin typeface="Segoe UI"/>
              </a:rPr>
              <a:t>▸  </a:t>
            </a:r>
            <a:r>
              <a:rPr sz="1600" b="1">
                <a:solidFill>
                  <a:srgbClr val="1C1A1B"/>
                </a:solidFill>
                <a:latin typeface="Segoe UI"/>
              </a:rPr>
              <a:t>Force : la connaissance des principes</a:t>
            </a:r>
          </a:p>
          <a:p>
            <a:pPr>
              <a:spcAft>
                <a:spcPts val="1400"/>
              </a:spcAft>
            </a:pPr>
            <a:r>
              <a:rPr sz="1350">
                <a:solidFill>
                  <a:srgbClr val="5D5559"/>
                </a:solidFill>
                <a:latin typeface="Segoe UI"/>
              </a:rPr>
              <a:t>     developpement, occupation du centre — acquis par simple observation, sans recherche.</a:t>
            </a:r>
          </a:p>
          <a:p>
            <a:pPr>
              <a:spcAft>
                <a:spcPts val="1800"/>
              </a:spcAft>
            </a:pPr>
            <a:r>
              <a:rPr sz="1600" b="1">
                <a:solidFill>
                  <a:srgbClr val="B8536E"/>
                </a:solidFill>
                <a:latin typeface="Segoe UI"/>
              </a:rPr>
              <a:t>▸  </a:t>
            </a:r>
            <a:r>
              <a:rPr sz="1600" b="1">
                <a:solidFill>
                  <a:srgbClr val="1C1A1B"/>
                </a:solidFill>
                <a:latin typeface="Segoe UI"/>
              </a:rPr>
              <a:t>Faiblesse : un jeu passif</a:t>
            </a:r>
          </a:p>
          <a:p>
            <a:pPr>
              <a:spcAft>
                <a:spcPts val="1400"/>
              </a:spcAft>
            </a:pPr>
            <a:r>
              <a:rPr sz="1350">
                <a:solidFill>
                  <a:srgbClr val="5D5559"/>
                </a:solidFill>
                <a:latin typeface="Segoe UI"/>
              </a:rPr>
              <a:t>     51 nulles sur 60 parties contre l'aleatoire. Le bot atteint des positions gagnantes mais ne les convertit pas — il tourne en rond.</a:t>
            </a:r>
          </a:p>
          <a:p>
            <a:pPr>
              <a:spcAft>
                <a:spcPts val="1800"/>
              </a:spcAft>
            </a:pPr>
            <a:r>
              <a:rPr sz="1600" b="1">
                <a:solidFill>
                  <a:srgbClr val="B8536E"/>
                </a:solidFill>
                <a:latin typeface="Segoe UI"/>
              </a:rPr>
              <a:t>▸  </a:t>
            </a:r>
            <a:r>
              <a:rPr sz="1600" b="1">
                <a:solidFill>
                  <a:srgbClr val="1C1A1B"/>
                </a:solidFill>
                <a:latin typeface="Segoe UI"/>
              </a:rPr>
              <a:t>Interpretation</a:t>
            </a:r>
          </a:p>
          <a:p>
            <a:pPr>
              <a:spcAft>
                <a:spcPts val="1400"/>
              </a:spcAft>
            </a:pPr>
            <a:r>
              <a:rPr sz="1350">
                <a:solidFill>
                  <a:srgbClr val="5D5559"/>
                </a:solidFill>
                <a:latin typeface="Segoe UI"/>
              </a:rPr>
              <a:t>     sans recherche, le modele ne verifie jamais une suite de coups. Il reconnait des schemas, mais ne calcule pas les consequences. Un entrainement plus long (les courbes montaient encore a la 4e epoque) aurait probablement ameliore ce point.</a:t>
            </a:r>
          </a:p>
        </p:txBody>
      </p:sp>
      <p:sp>
        <p:nvSpPr>
          <p:cNvPr id="5" name="TextBox 4"/>
          <p:cNvSpPr txBox="1"/>
          <p:nvPr/>
        </p:nvSpPr>
        <p:spPr>
          <a:xfrm>
            <a:off x="700000" y="6480000"/>
            <a:ext cx="10800000" cy="300000"/>
          </a:xfrm>
          <a:prstGeom prst="rect">
            <a:avLst/>
          </a:prstGeom>
          <a:noFill/>
        </p:spPr>
        <p:txBody>
          <a:bodyPr wrap="square" anchor="t">
            <a:spAutoFit/>
          </a:bodyPr>
          <a:lstStyle/>
          <a:p>
            <a:r>
              <a:rPr sz="950" b="0" i="0">
                <a:solidFill>
                  <a:srgbClr val="A59DA1"/>
                </a:solidFill>
                <a:latin typeface="Segoe UI"/>
              </a:rPr>
              <a:t>Chess Bot v1  ·  Discussion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00000" y="520000"/>
            <a:ext cx="90000" cy="760000"/>
          </a:xfrm>
          <a:prstGeom prst="rect">
            <a:avLst/>
          </a:prstGeom>
          <a:solidFill>
            <a:srgbClr val="B853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20000" y="470000"/>
            <a:ext cx="10500000" cy="1150000"/>
          </a:xfrm>
          <a:prstGeom prst="rect">
            <a:avLst/>
          </a:prstGeom>
          <a:noFill/>
        </p:spPr>
        <p:txBody>
          <a:bodyPr wrap="square" anchor="t">
            <a:spAutoFit/>
          </a:bodyPr>
          <a:lstStyle/>
          <a:p>
            <a:r>
              <a:rPr sz="1200" b="1" i="0">
                <a:solidFill>
                  <a:srgbClr val="B8536E"/>
                </a:solidFill>
                <a:latin typeface="Segoe UI"/>
              </a:rPr>
              <a:t>LIVRABLE</a:t>
            </a:r>
          </a:p>
          <a:p>
            <a:r>
              <a:rPr sz="3000" b="1" i="0">
                <a:solidFill>
                  <a:srgbClr val="1C1A1B"/>
                </a:solidFill>
                <a:latin typeface="Segoe UI"/>
              </a:rPr>
              <a:t>L'application</a:t>
            </a:r>
          </a:p>
          <a:p>
            <a:pPr>
              <a:spcBef>
                <a:spcPts val="400"/>
              </a:spcBef>
            </a:pPr>
            <a:r>
              <a:rPr sz="1500" b="0" i="0">
                <a:solidFill>
                  <a:srgbClr val="5D5559"/>
                </a:solidFill>
                <a:latin typeface="Segoe UI"/>
              </a:rPr>
              <a:t>Jouer contre le bot, et voir ce qu'il pense</a:t>
            </a:r>
          </a:p>
        </p:txBody>
      </p:sp>
      <p:sp>
        <p:nvSpPr>
          <p:cNvPr id="4" name="TextBox 3"/>
          <p:cNvSpPr txBox="1"/>
          <p:nvPr/>
        </p:nvSpPr>
        <p:spPr>
          <a:xfrm>
            <a:off x="920000" y="1750000"/>
            <a:ext cx="10400000" cy="4500000"/>
          </a:xfrm>
          <a:prstGeom prst="rect">
            <a:avLst/>
          </a:prstGeom>
          <a:noFill/>
        </p:spPr>
        <p:txBody>
          <a:bodyPr wrap="square" anchor="t">
            <a:spAutoFit/>
          </a:bodyPr>
          <a:lstStyle/>
          <a:p>
            <a:pPr>
              <a:spcAft>
                <a:spcPts val="1800"/>
              </a:spcAft>
            </a:pPr>
            <a:r>
              <a:rPr sz="1600" b="1">
                <a:solidFill>
                  <a:srgbClr val="B8536E"/>
                </a:solidFill>
                <a:latin typeface="Segoe UI"/>
              </a:rPr>
              <a:t>▸  </a:t>
            </a:r>
            <a:r>
              <a:rPr sz="1600" b="1">
                <a:solidFill>
                  <a:srgbClr val="1C1A1B"/>
                </a:solidFill>
                <a:latin typeface="Segoe UI"/>
              </a:rPr>
              <a:t>Mode Jouer</a:t>
            </a:r>
          </a:p>
          <a:p>
            <a:pPr>
              <a:spcAft>
                <a:spcPts val="1400"/>
              </a:spcAft>
            </a:pPr>
            <a:r>
              <a:rPr sz="1350">
                <a:solidFill>
                  <a:srgbClr val="5D5559"/>
                </a:solidFill>
                <a:latin typeface="Segoe UI"/>
              </a:rPr>
              <a:t>     on affronte le Transformer (ou les adversaires de reference) dans le navigateur.</a:t>
            </a:r>
          </a:p>
          <a:p>
            <a:pPr>
              <a:spcAft>
                <a:spcPts val="1800"/>
              </a:spcAft>
            </a:pPr>
            <a:r>
              <a:rPr sz="1600" b="1">
                <a:solidFill>
                  <a:srgbClr val="B8536E"/>
                </a:solidFill>
                <a:latin typeface="Segoe UI"/>
              </a:rPr>
              <a:t>▸  </a:t>
            </a:r>
            <a:r>
              <a:rPr sz="1600" b="1">
                <a:solidFill>
                  <a:srgbClr val="1C1A1B"/>
                </a:solidFill>
                <a:latin typeface="Segoe UI"/>
              </a:rPr>
              <a:t>Mode spectateur</a:t>
            </a:r>
          </a:p>
          <a:p>
            <a:pPr>
              <a:spcAft>
                <a:spcPts val="1400"/>
              </a:spcAft>
            </a:pPr>
            <a:r>
              <a:rPr sz="1350">
                <a:solidFill>
                  <a:srgbClr val="5D5559"/>
                </a:solidFill>
                <a:latin typeface="Segoe UI"/>
              </a:rPr>
              <a:t>     deux bots s'affrontent automatiquement, on regarde et on commente.</a:t>
            </a:r>
          </a:p>
          <a:p>
            <a:pPr>
              <a:spcAft>
                <a:spcPts val="1800"/>
              </a:spcAft>
            </a:pPr>
            <a:r>
              <a:rPr sz="1600" b="1">
                <a:solidFill>
                  <a:srgbClr val="B8536E"/>
                </a:solidFill>
                <a:latin typeface="Segoe UI"/>
              </a:rPr>
              <a:t>▸  </a:t>
            </a:r>
            <a:r>
              <a:rPr sz="1600" b="1">
                <a:solidFill>
                  <a:srgbClr val="1C1A1B"/>
                </a:solidFill>
                <a:latin typeface="Segoe UI"/>
              </a:rPr>
              <a:t>Le detail cle</a:t>
            </a:r>
          </a:p>
          <a:p>
            <a:pPr>
              <a:spcAft>
                <a:spcPts val="1400"/>
              </a:spcAft>
            </a:pPr>
            <a:r>
              <a:rPr sz="1350">
                <a:solidFill>
                  <a:srgbClr val="5D5559"/>
                </a:solidFill>
                <a:latin typeface="Segoe UI"/>
              </a:rPr>
              <a:t>     a chaque coup, les probabilites reellement sorties du reseau s'affichent — on voit litteralement le modele reflechir.</a:t>
            </a:r>
          </a:p>
        </p:txBody>
      </p:sp>
      <p:sp>
        <p:nvSpPr>
          <p:cNvPr id="5" name="TextBox 4"/>
          <p:cNvSpPr txBox="1"/>
          <p:nvPr/>
        </p:nvSpPr>
        <p:spPr>
          <a:xfrm>
            <a:off x="700000" y="6480000"/>
            <a:ext cx="10800000" cy="300000"/>
          </a:xfrm>
          <a:prstGeom prst="rect">
            <a:avLst/>
          </a:prstGeom>
          <a:noFill/>
        </p:spPr>
        <p:txBody>
          <a:bodyPr wrap="square" anchor="t">
            <a:spAutoFit/>
          </a:bodyPr>
          <a:lstStyle/>
          <a:p>
            <a:r>
              <a:rPr sz="950" b="0" i="0">
                <a:solidFill>
                  <a:srgbClr val="A59DA1"/>
                </a:solidFill>
                <a:latin typeface="Segoe UI"/>
              </a:rPr>
              <a:t>Chess Bot v1  ·  Demonstration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00000" y="520000"/>
            <a:ext cx="90000" cy="760000"/>
          </a:xfrm>
          <a:prstGeom prst="rect">
            <a:avLst/>
          </a:prstGeom>
          <a:solidFill>
            <a:srgbClr val="B853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20000" y="470000"/>
            <a:ext cx="10500000" cy="1150000"/>
          </a:xfrm>
          <a:prstGeom prst="rect">
            <a:avLst/>
          </a:prstGeom>
          <a:noFill/>
        </p:spPr>
        <p:txBody>
          <a:bodyPr wrap="square" anchor="t">
            <a:spAutoFit/>
          </a:bodyPr>
          <a:lstStyle/>
          <a:p>
            <a:r>
              <a:rPr sz="1200" b="1" i="0">
                <a:solidFill>
                  <a:srgbClr val="B8536E"/>
                </a:solidFill>
                <a:latin typeface="Segoe UI"/>
              </a:rPr>
              <a:t>DISCUSSION</a:t>
            </a:r>
          </a:p>
          <a:p>
            <a:r>
              <a:rPr sz="3000" b="1" i="0">
                <a:solidFill>
                  <a:srgbClr val="1C1A1B"/>
                </a:solidFill>
                <a:latin typeface="Segoe UI"/>
              </a:rPr>
              <a:t>Limites et perspectives</a:t>
            </a:r>
          </a:p>
        </p:txBody>
      </p:sp>
      <p:sp>
        <p:nvSpPr>
          <p:cNvPr id="4" name="TextBox 3"/>
          <p:cNvSpPr txBox="1"/>
          <p:nvPr/>
        </p:nvSpPr>
        <p:spPr>
          <a:xfrm>
            <a:off x="920000" y="1750000"/>
            <a:ext cx="10400000" cy="4500000"/>
          </a:xfrm>
          <a:prstGeom prst="rect">
            <a:avLst/>
          </a:prstGeom>
          <a:noFill/>
        </p:spPr>
        <p:txBody>
          <a:bodyPr wrap="square" anchor="t">
            <a:spAutoFit/>
          </a:bodyPr>
          <a:lstStyle/>
          <a:p>
            <a:pPr>
              <a:spcAft>
                <a:spcPts val="1800"/>
              </a:spcAft>
            </a:pPr>
            <a:r>
              <a:rPr sz="1600" b="1">
                <a:solidFill>
                  <a:srgbClr val="B8536E"/>
                </a:solidFill>
                <a:latin typeface="Segoe UI"/>
              </a:rPr>
              <a:t>▸  </a:t>
            </a:r>
            <a:r>
              <a:rPr sz="1600" b="1">
                <a:solidFill>
                  <a:srgbClr val="1C1A1B"/>
                </a:solidFill>
                <a:latin typeface="Segoe UI"/>
              </a:rPr>
              <a:t>Passer a l'action-value</a:t>
            </a:r>
          </a:p>
          <a:p>
            <a:pPr>
              <a:spcAft>
                <a:spcPts val="1400"/>
              </a:spcAft>
            </a:pPr>
            <a:r>
              <a:rPr sz="1350">
                <a:solidFill>
                  <a:srgbClr val="5D5559"/>
                </a:solidFill>
                <a:latin typeface="Segoe UI"/>
              </a:rPr>
              <a:t>     predire la probabilite de gagner de chaque coup, comme DeepMind, plutot que d'imiter le coup humain.</a:t>
            </a:r>
          </a:p>
          <a:p>
            <a:pPr>
              <a:spcAft>
                <a:spcPts val="1800"/>
              </a:spcAft>
            </a:pPr>
            <a:r>
              <a:rPr sz="1600" b="1">
                <a:solidFill>
                  <a:srgbClr val="B8536E"/>
                </a:solidFill>
                <a:latin typeface="Segoe UI"/>
              </a:rPr>
              <a:t>▸  </a:t>
            </a:r>
            <a:r>
              <a:rPr sz="1600" b="1">
                <a:solidFill>
                  <a:srgbClr val="1C1A1B"/>
                </a:solidFill>
                <a:latin typeface="Segoe UI"/>
              </a:rPr>
              <a:t>Annoter avec Stockfish</a:t>
            </a:r>
          </a:p>
          <a:p>
            <a:pPr>
              <a:spcAft>
                <a:spcPts val="1400"/>
              </a:spcAft>
            </a:pPr>
            <a:r>
              <a:rPr sz="1350">
                <a:solidFill>
                  <a:srgbClr val="5D5559"/>
                </a:solidFill>
                <a:latin typeface="Segoe UI"/>
              </a:rPr>
              <a:t>     apprendre du MEILLEUR coup calcule par un moteur, pas seulement du coup joue par un humain.</a:t>
            </a:r>
          </a:p>
          <a:p>
            <a:pPr>
              <a:spcAft>
                <a:spcPts val="1800"/>
              </a:spcAft>
            </a:pPr>
            <a:r>
              <a:rPr sz="1600" b="1">
                <a:solidFill>
                  <a:srgbClr val="B8536E"/>
                </a:solidFill>
                <a:latin typeface="Segoe UI"/>
              </a:rPr>
              <a:t>▸  </a:t>
            </a:r>
            <a:r>
              <a:rPr sz="1600" b="1">
                <a:solidFill>
                  <a:srgbClr val="1C1A1B"/>
                </a:solidFill>
                <a:latin typeface="Segoe UI"/>
              </a:rPr>
              <a:t>Ajouter une recherche legere</a:t>
            </a:r>
          </a:p>
          <a:p>
            <a:pPr>
              <a:spcAft>
                <a:spcPts val="1400"/>
              </a:spcAft>
            </a:pPr>
            <a:r>
              <a:rPr sz="1350">
                <a:solidFill>
                  <a:srgbClr val="5D5559"/>
                </a:solidFill>
                <a:latin typeface="Segoe UI"/>
              </a:rPr>
              <a:t>     une profondeur 2-3 guidee par les propositions du reseau corrigerait probablement l'essentiel des erreurs tactiques.</a:t>
            </a:r>
          </a:p>
          <a:p>
            <a:pPr>
              <a:spcAft>
                <a:spcPts val="1800"/>
              </a:spcAft>
            </a:pPr>
            <a:r>
              <a:rPr sz="1600" b="1">
                <a:solidFill>
                  <a:srgbClr val="B8536E"/>
                </a:solidFill>
                <a:latin typeface="Segoe UI"/>
              </a:rPr>
              <a:t>▸  </a:t>
            </a:r>
            <a:r>
              <a:rPr sz="1600" b="1">
                <a:solidFill>
                  <a:srgbClr val="1C1A1B"/>
                </a:solidFill>
                <a:latin typeface="Segoe UI"/>
              </a:rPr>
              <a:t>Entrainer plus longtemps</a:t>
            </a:r>
          </a:p>
          <a:p>
            <a:pPr>
              <a:spcAft>
                <a:spcPts val="1400"/>
              </a:spcAft>
            </a:pPr>
            <a:r>
              <a:rPr sz="1350">
                <a:solidFill>
                  <a:srgbClr val="5D5559"/>
                </a:solidFill>
                <a:latin typeface="Segoe UI"/>
              </a:rPr>
              <a:t>     les courbes etaient encore croissantes ; un GPU stable (non sujet aux deconnexions) permettrait d'aller plus loin.</a:t>
            </a:r>
          </a:p>
        </p:txBody>
      </p:sp>
      <p:sp>
        <p:nvSpPr>
          <p:cNvPr id="5" name="TextBox 4"/>
          <p:cNvSpPr txBox="1"/>
          <p:nvPr/>
        </p:nvSpPr>
        <p:spPr>
          <a:xfrm>
            <a:off x="700000" y="6480000"/>
            <a:ext cx="10800000" cy="300000"/>
          </a:xfrm>
          <a:prstGeom prst="rect">
            <a:avLst/>
          </a:prstGeom>
          <a:noFill/>
        </p:spPr>
        <p:txBody>
          <a:bodyPr wrap="square" anchor="t">
            <a:spAutoFit/>
          </a:bodyPr>
          <a:lstStyle/>
          <a:p>
            <a:r>
              <a:rPr sz="950" b="0" i="0">
                <a:solidFill>
                  <a:srgbClr val="A59DA1"/>
                </a:solidFill>
                <a:latin typeface="Segoe UI"/>
              </a:rPr>
              <a:t>Chess Bot v1  ·  Perspectives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00000" y="520000"/>
            <a:ext cx="90000" cy="760000"/>
          </a:xfrm>
          <a:prstGeom prst="rect">
            <a:avLst/>
          </a:prstGeom>
          <a:solidFill>
            <a:srgbClr val="B853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20000" y="470000"/>
            <a:ext cx="10500000" cy="1150000"/>
          </a:xfrm>
          <a:prstGeom prst="rect">
            <a:avLst/>
          </a:prstGeom>
          <a:noFill/>
        </p:spPr>
        <p:txBody>
          <a:bodyPr wrap="square" anchor="t">
            <a:spAutoFit/>
          </a:bodyPr>
          <a:lstStyle/>
          <a:p>
            <a:r>
              <a:rPr sz="1200" b="1" i="0">
                <a:solidFill>
                  <a:srgbClr val="B8536E"/>
                </a:solidFill>
                <a:latin typeface="Segoe UI"/>
              </a:rPr>
              <a:t>ORGANISATION</a:t>
            </a:r>
          </a:p>
          <a:p>
            <a:r>
              <a:rPr sz="3000" b="1" i="0">
                <a:solidFill>
                  <a:srgbClr val="1C1A1B"/>
                </a:solidFill>
                <a:latin typeface="Segoe UI"/>
              </a:rPr>
              <a:t>Gestion de projet</a:t>
            </a:r>
          </a:p>
          <a:p>
            <a:pPr>
              <a:spcBef>
                <a:spcPts val="400"/>
              </a:spcBef>
            </a:pPr>
            <a:r>
              <a:rPr sz="1500" b="0" i="0">
                <a:solidFill>
                  <a:srgbClr val="5D5559"/>
                </a:solidFill>
                <a:latin typeface="Segoe UI"/>
              </a:rPr>
              <a:t>Un binome, un depot Git versionne</a:t>
            </a:r>
          </a:p>
        </p:txBody>
      </p:sp>
      <p:sp>
        <p:nvSpPr>
          <p:cNvPr id="4" name="TextBox 3"/>
          <p:cNvSpPr txBox="1"/>
          <p:nvPr/>
        </p:nvSpPr>
        <p:spPr>
          <a:xfrm>
            <a:off x="920000" y="1750000"/>
            <a:ext cx="10400000" cy="4500000"/>
          </a:xfrm>
          <a:prstGeom prst="rect">
            <a:avLst/>
          </a:prstGeom>
          <a:noFill/>
        </p:spPr>
        <p:txBody>
          <a:bodyPr wrap="square" anchor="t">
            <a:spAutoFit/>
          </a:bodyPr>
          <a:lstStyle/>
          <a:p>
            <a:pPr>
              <a:spcAft>
                <a:spcPts val="1800"/>
              </a:spcAft>
            </a:pPr>
            <a:r>
              <a:rPr sz="1600" b="1">
                <a:solidFill>
                  <a:srgbClr val="B8536E"/>
                </a:solidFill>
                <a:latin typeface="Segoe UI"/>
              </a:rPr>
              <a:t>▸  </a:t>
            </a:r>
            <a:r>
              <a:rPr sz="1600" b="1">
                <a:solidFill>
                  <a:srgbClr val="1C1A1B"/>
                </a:solidFill>
                <a:latin typeface="Segoe UI"/>
              </a:rPr>
              <a:t>[Prenom] — donnees et modele</a:t>
            </a:r>
          </a:p>
          <a:p>
            <a:pPr>
              <a:spcAft>
                <a:spcPts val="1400"/>
              </a:spcAft>
            </a:pPr>
            <a:r>
              <a:rPr sz="1350">
                <a:solidFill>
                  <a:srgbClr val="5D5559"/>
                </a:solidFill>
                <a:latin typeface="Segoe UI"/>
              </a:rPr>
              <a:t>     extraction/filtrage des parties, encodage des positions, architecture et entrainement du Transformer.</a:t>
            </a:r>
          </a:p>
          <a:p>
            <a:pPr>
              <a:spcAft>
                <a:spcPts val="1800"/>
              </a:spcAft>
            </a:pPr>
            <a:r>
              <a:rPr sz="1600" b="1">
                <a:solidFill>
                  <a:srgbClr val="B8536E"/>
                </a:solidFill>
                <a:latin typeface="Segoe UI"/>
              </a:rPr>
              <a:t>▸  </a:t>
            </a:r>
            <a:r>
              <a:rPr sz="1600" b="1">
                <a:solidFill>
                  <a:srgbClr val="1C1A1B"/>
                </a:solidFill>
                <a:latin typeface="Segoe UI"/>
              </a:rPr>
              <a:t>[Prenom] — evaluation et application</a:t>
            </a:r>
          </a:p>
          <a:p>
            <a:pPr>
              <a:spcAft>
                <a:spcPts val="1400"/>
              </a:spcAft>
            </a:pPr>
            <a:r>
              <a:rPr sz="1350">
                <a:solidFill>
                  <a:srgbClr val="5D5559"/>
                </a:solidFill>
                <a:latin typeface="Segoe UI"/>
              </a:rPr>
              <a:t>     moteurs de reference, calcul d'Elo, campagne contre Stockfish, application de jeu.</a:t>
            </a:r>
          </a:p>
          <a:p>
            <a:pPr>
              <a:spcAft>
                <a:spcPts val="1800"/>
              </a:spcAft>
            </a:pPr>
            <a:r>
              <a:rPr sz="1600" b="1">
                <a:solidFill>
                  <a:srgbClr val="B8536E"/>
                </a:solidFill>
                <a:latin typeface="Segoe UI"/>
              </a:rPr>
              <a:t>▸  </a:t>
            </a:r>
            <a:r>
              <a:rPr sz="1600" b="1">
                <a:solidFill>
                  <a:srgbClr val="1C1A1B"/>
                </a:solidFill>
                <a:latin typeface="Segoe UI"/>
              </a:rPr>
              <a:t>Difficultes reelles rencontrees</a:t>
            </a:r>
          </a:p>
          <a:p>
            <a:pPr>
              <a:spcAft>
                <a:spcPts val="1400"/>
              </a:spcAft>
            </a:pPr>
            <a:r>
              <a:rPr sz="1350">
                <a:solidFill>
                  <a:srgbClr val="5D5559"/>
                </a:solidFill>
                <a:latin typeface="Segoe UI"/>
              </a:rPr>
              <a:t>     lecture des donnees initialement trop lente (corrigee, x18) · Elo infini a 100 % de victoires (corrige par la methode de Wilson) · deconnexions de l'environnement Colab gratuit (contournees par sauvegarde sur Drive a chaque epoque).</a:t>
            </a:r>
          </a:p>
        </p:txBody>
      </p:sp>
      <p:sp>
        <p:nvSpPr>
          <p:cNvPr id="5" name="TextBox 4"/>
          <p:cNvSpPr txBox="1"/>
          <p:nvPr/>
        </p:nvSpPr>
        <p:spPr>
          <a:xfrm>
            <a:off x="700000" y="6480000"/>
            <a:ext cx="10800000" cy="300000"/>
          </a:xfrm>
          <a:prstGeom prst="rect">
            <a:avLst/>
          </a:prstGeom>
          <a:noFill/>
        </p:spPr>
        <p:txBody>
          <a:bodyPr wrap="square" anchor="t">
            <a:spAutoFit/>
          </a:bodyPr>
          <a:lstStyle/>
          <a:p>
            <a:r>
              <a:rPr sz="950" b="0" i="0">
                <a:solidFill>
                  <a:srgbClr val="A59DA1"/>
                </a:solidFill>
                <a:latin typeface="Segoe UI"/>
              </a:rPr>
              <a:t>Chess Bot v1  ·  Organisation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00000" y="520000"/>
            <a:ext cx="90000" cy="760000"/>
          </a:xfrm>
          <a:prstGeom prst="rect">
            <a:avLst/>
          </a:prstGeom>
          <a:solidFill>
            <a:srgbClr val="B853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20000" y="470000"/>
            <a:ext cx="10500000" cy="1150000"/>
          </a:xfrm>
          <a:prstGeom prst="rect">
            <a:avLst/>
          </a:prstGeom>
          <a:noFill/>
        </p:spPr>
        <p:txBody>
          <a:bodyPr wrap="square" anchor="t">
            <a:spAutoFit/>
          </a:bodyPr>
          <a:lstStyle/>
          <a:p>
            <a:r>
              <a:rPr sz="1200" b="1" i="0">
                <a:solidFill>
                  <a:srgbClr val="B8536E"/>
                </a:solidFill>
                <a:latin typeface="Segoe UI"/>
              </a:rPr>
              <a:t>SYNTHESE</a:t>
            </a:r>
          </a:p>
          <a:p>
            <a:r>
              <a:rPr sz="3000" b="1" i="0">
                <a:solidFill>
                  <a:srgbClr val="1C1A1B"/>
                </a:solidFill>
                <a:latin typeface="Segoe UI"/>
              </a:rPr>
              <a:t>Conclusion</a:t>
            </a:r>
          </a:p>
        </p:txBody>
      </p:sp>
      <p:sp>
        <p:nvSpPr>
          <p:cNvPr id="4" name="TextBox 3"/>
          <p:cNvSpPr txBox="1"/>
          <p:nvPr/>
        </p:nvSpPr>
        <p:spPr>
          <a:xfrm>
            <a:off x="920000" y="1750000"/>
            <a:ext cx="10400000" cy="4500000"/>
          </a:xfrm>
          <a:prstGeom prst="rect">
            <a:avLst/>
          </a:prstGeom>
          <a:noFill/>
        </p:spPr>
        <p:txBody>
          <a:bodyPr wrap="square" anchor="t">
            <a:spAutoFit/>
          </a:bodyPr>
          <a:lstStyle/>
          <a:p>
            <a:pPr>
              <a:spcAft>
                <a:spcPts val="1800"/>
              </a:spcAft>
            </a:pPr>
            <a:r>
              <a:rPr sz="1600" b="1">
                <a:solidFill>
                  <a:srgbClr val="B8536E"/>
                </a:solidFill>
                <a:latin typeface="Segoe UI"/>
              </a:rPr>
              <a:t>▸  </a:t>
            </a:r>
            <a:r>
              <a:rPr sz="1600" b="1">
                <a:solidFill>
                  <a:srgbClr val="1C1A1B"/>
                </a:solidFill>
                <a:latin typeface="Segoe UI"/>
              </a:rPr>
              <a:t>Un Transformer apprend a jouer sans recherche</a:t>
            </a:r>
          </a:p>
          <a:p>
            <a:pPr>
              <a:spcAft>
                <a:spcPts val="1400"/>
              </a:spcAft>
            </a:pPr>
            <a:r>
              <a:rPr sz="1350">
                <a:solidFill>
                  <a:srgbClr val="5D5559"/>
                </a:solidFill>
                <a:latin typeface="Segoe UI"/>
              </a:rPr>
              <a:t>     juste en observant des parties, par clonage comportemental.</a:t>
            </a:r>
          </a:p>
          <a:p>
            <a:pPr>
              <a:spcAft>
                <a:spcPts val="1800"/>
              </a:spcAft>
            </a:pPr>
            <a:r>
              <a:rPr sz="1600" b="1">
                <a:solidFill>
                  <a:srgbClr val="B8536E"/>
                </a:solidFill>
                <a:latin typeface="Segoe UI"/>
              </a:rPr>
              <a:t>▸  </a:t>
            </a:r>
            <a:r>
              <a:rPr sz="1600" b="1">
                <a:solidFill>
                  <a:srgbClr val="1C1A1B"/>
                </a:solidFill>
                <a:latin typeface="Segoe UI"/>
              </a:rPr>
              <a:t>Niveau modeste (~250 Elo) mais reel</a:t>
            </a:r>
          </a:p>
          <a:p>
            <a:pPr>
              <a:spcAft>
                <a:spcPts val="1400"/>
              </a:spcAft>
            </a:pPr>
            <a:r>
              <a:rPr sz="1350">
                <a:solidFill>
                  <a:srgbClr val="5D5559"/>
                </a:solidFill>
                <a:latin typeface="Segoe UI"/>
              </a:rPr>
              <a:t>     principes d'ouverture correctement acquis, jeu de fin de partie encore faible.</a:t>
            </a:r>
          </a:p>
          <a:p>
            <a:pPr>
              <a:spcAft>
                <a:spcPts val="1800"/>
              </a:spcAft>
            </a:pPr>
            <a:r>
              <a:rPr sz="1600" b="1">
                <a:solidFill>
                  <a:srgbClr val="B8536E"/>
                </a:solidFill>
                <a:latin typeface="Segoe UI"/>
              </a:rPr>
              <a:t>▸  </a:t>
            </a:r>
            <a:r>
              <a:rPr sz="1600" b="1">
                <a:solidFill>
                  <a:srgbClr val="1C1A1B"/>
                </a:solidFill>
                <a:latin typeface="Segoe UI"/>
              </a:rPr>
              <a:t>Une demarche complete et rigoureuse</a:t>
            </a:r>
          </a:p>
          <a:p>
            <a:pPr>
              <a:spcAft>
                <a:spcPts val="1400"/>
              </a:spcAft>
            </a:pPr>
            <a:r>
              <a:rPr sz="1350">
                <a:solidFill>
                  <a:srgbClr val="5D5559"/>
                </a:solidFill>
                <a:latin typeface="Segoe UI"/>
              </a:rPr>
              <a:t>     chaine reproductible, encodage teste, evaluation avec intervalles de confiance.</a:t>
            </a:r>
          </a:p>
          <a:p>
            <a:pPr>
              <a:spcAft>
                <a:spcPts val="1800"/>
              </a:spcAft>
            </a:pPr>
            <a:r>
              <a:rPr sz="1600" b="1">
                <a:solidFill>
                  <a:srgbClr val="B8536E"/>
                </a:solidFill>
                <a:latin typeface="Segoe UI"/>
              </a:rPr>
              <a:t>▸  </a:t>
            </a:r>
            <a:r>
              <a:rPr sz="1600" b="1">
                <a:solidFill>
                  <a:srgbClr val="1C1A1B"/>
                </a:solidFill>
                <a:latin typeface="Segoe UI"/>
              </a:rPr>
              <a:t>Le point cle a retenir</a:t>
            </a:r>
          </a:p>
          <a:p>
            <a:pPr>
              <a:spcAft>
                <a:spcPts val="1400"/>
              </a:spcAft>
            </a:pPr>
            <a:r>
              <a:rPr sz="1350">
                <a:solidFill>
                  <a:srgbClr val="5D5559"/>
                </a:solidFill>
                <a:latin typeface="Segoe UI"/>
              </a:rPr>
              <a:t>     la difference entre connaissance (ce que le reseau a memorise) et calcul (la recherche qu'on a volontairement retiree).</a:t>
            </a:r>
          </a:p>
        </p:txBody>
      </p:sp>
      <p:sp>
        <p:nvSpPr>
          <p:cNvPr id="5" name="TextBox 4"/>
          <p:cNvSpPr txBox="1"/>
          <p:nvPr/>
        </p:nvSpPr>
        <p:spPr>
          <a:xfrm>
            <a:off x="700000" y="6480000"/>
            <a:ext cx="10800000" cy="300000"/>
          </a:xfrm>
          <a:prstGeom prst="rect">
            <a:avLst/>
          </a:prstGeom>
          <a:noFill/>
        </p:spPr>
        <p:txBody>
          <a:bodyPr wrap="square" anchor="t">
            <a:spAutoFit/>
          </a:bodyPr>
          <a:lstStyle/>
          <a:p>
            <a:r>
              <a:rPr sz="950" b="0" i="0">
                <a:solidFill>
                  <a:srgbClr val="A59DA1"/>
                </a:solidFill>
                <a:latin typeface="Segoe UI"/>
              </a:rPr>
              <a:t>Chess Bot v1  ·  Conclusion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C1A1B"/>
        </a:solidFill>
        <a:effectLst/>
      </p:bgPr>
    </p:bg>
    <p:spTree>
      <p:nvGrpSpPr>
        <p:cNvPr id="1" name=""/>
        <p:cNvGrpSpPr/>
        <p:nvPr/>
      </p:nvGrpSpPr>
      <p:grpSpPr/>
      <p:sp>
        <p:nvSpPr>
          <p:cNvPr id="2" name="TextBox 1"/>
          <p:cNvSpPr txBox="1"/>
          <p:nvPr/>
        </p:nvSpPr>
        <p:spPr>
          <a:xfrm>
            <a:off x="900000" y="2450000"/>
            <a:ext cx="10400000" cy="2500000"/>
          </a:xfrm>
          <a:prstGeom prst="rect">
            <a:avLst/>
          </a:prstGeom>
          <a:noFill/>
        </p:spPr>
        <p:txBody>
          <a:bodyPr wrap="square" anchor="ctr">
            <a:spAutoFit/>
          </a:bodyPr>
          <a:lstStyle/>
          <a:p>
            <a:r>
              <a:rPr sz="5000" b="1" i="0">
                <a:solidFill>
                  <a:srgbClr val="FFFFFF"/>
                </a:solidFill>
                <a:latin typeface="Segoe UI"/>
              </a:rPr>
              <a:t>Merci</a:t>
            </a:r>
          </a:p>
          <a:p>
            <a:pPr>
              <a:spcBef>
                <a:spcPts val="1200"/>
              </a:spcBef>
            </a:pPr>
            <a:r>
              <a:rPr sz="2100" b="1" i="0">
                <a:solidFill>
                  <a:srgbClr val="E7C6CE"/>
                </a:solidFill>
                <a:latin typeface="Segoe UI"/>
              </a:rPr>
              <a:t>Questions ?</a:t>
            </a:r>
          </a:p>
          <a:p>
            <a:pPr>
              <a:spcBef>
                <a:spcPts val="800"/>
              </a:spcBef>
            </a:pPr>
            <a:r>
              <a:rPr sz="1400" b="0" i="0">
                <a:solidFill>
                  <a:srgbClr val="C9C2C5"/>
                </a:solidFill>
                <a:latin typeface="Segoe UI"/>
              </a:rPr>
              <a:t>github.com/naadjath/chess-bot-v1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