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Bonjour. Nous presentons Chess Bot v1 : un reseau de neurones qui choisit un coup d'echecs directement a partir de la position, sans explorer la moindre variante future. C'est cette absence de recherche qui rend le projet interessant, et on va vous montrer ce qu'un petit modele arrive a apprendre, et surtout ses limites. Je suis [X], voici [Y], on se repartit la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Pour comprendre l'interet du projet, il faut d'abord voir ce qui rend les moteurs d'echecs actuels si forts. Deep Blue, Stockfish, tous cherchent : a chaque coup, ils explorent mentalement des millions de positions futures avant de se decider. C'est de la force brute, tres efficace, mais couteuse en calcul. Nous posons une question differente. Est-ce qu'un reseau de neurones peut jouer correctement sans jamais faire ce travail de recherche, juste en reconnaissant une position comme un joueur humain reconnait un motif familier ? C'est cette question qui guide tout le reste de la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Petit rappel historique pour situer le projet. En 1997, Deep Blue bat Kasparov grace a une recherche massive et une evaluation ecrite a la main par des experts. En 2017, AlphaZero associe un reseau de neurones a une recherche arborescente, et apprend en jouant contre lui-meme des millions de fois. Aujourd'hui, Stockfish, le moteur le plus fort au monde, combine toujours une recherche tres optimisee et un petit reseau d'evaluation. A chaque fois, le point commun, c'est la recherche. Ce qui change tout en 2024, c'est cet article de DeepMind qui montre qu'un Transformer seul, sans la moindre recherche, peut atteindre un niveau de grand maitre. C'est notre reference directe : on s'inspire de cette demarche, a une echelle beaucoup plus modeste.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Il faut etre honnete sur l'echelle du projet des le depart. DeepMind travaille avec 270 millions de parametres, 10 millions de parties annotees par Stockfish, et des processeurs specialises TPU. Nous avons un modele 40 fois plus petit, 1 million de positions au lieu de 10, et un unique GPU gratuit accessible depuis un navigateur. La consequence, on l'assume completement : on ne cherche pas a battre Stockfish, et personne ne s'attend a ce qu'on y arrive. Notre objectif est different, et plus modeste : mesurer honnetement ce qu'un petit modele, avec des moyens accessibles a des etudiants, arrive reellement a apprendre, avec la meme rigueur scientifique qu'un vrai laboratoire.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Voici les quatre etapes de la chaine complete, du fichier de parties brutes jusqu'au coup joue par le bot. Premiere etape : on constitue un million de positions a partir de vraies parties de joueurs forts. Deuxieme etape : chaque position est transformee en 68 nombres, le seul langage que comprend un reseau de neurones. Troisieme etape, le coeur du projet : le Transformer regarde ces 68 nombres et attribue un score a chacun des 1968 coups possibles. Quatrieme etape : on evalue le resultat en faisant vraiment jouer le bot, et on en tire un score Elo. On va detailler chacune de ces quatre etapes sur les diapos suivantes.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On part de l'archive publique de Lichess de janvier 2024, lue directement en flux depuis internet : on ne telecharge jamais le fichier complet sur le disque, on s'arrete des qu'on a assez de positions. Sur 186 057 parties lues, on n'en garde que 14 456, moins de 8 pourcent. Pourquoi si peu ? On filtre sur l'Elo des deux joueurs, au moins 2000, sur la cadence, pour exclure le bullet ou l'on joue au reflexe sans reflechir, et sur les huit premiers coups de chaque partie, qui relevent surtout de la memorisation d'ouvertures plutot que de la reflexion. Un dernier point technique important : on separe l'entrainement et la validation PAR PARTIE, jamais par position isolee. Deux positions issues de la meme partie se ressemblent enormement ; les melanger aurait fausse notre mesure en laissant le modele etre evalue sur des situations presque deja vues.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Un reseau de neurones ne comprend que des nombres, jamais un plateau. On transforme donc chaque position en 68 tokens : les 64 premiers decrivent le contenu de chaque case, zero pour une case vide, un a six pour les pieces du joueur au trait, sept a douze pour les pieces adverses. Les quatre derniers tokens portent le trait, les droits de roque et la prise en passant. Le detail le plus important a expliquer au jury : on retourne systematiquement l'echiquier pour que le modele voie toujours la position du point de vue du joueur qui doit jouer, comme s'il jouait toujours les blancs. Sans cette astuce, il faudrait apprendre deux fois la meme chose, une fois pour les blancs et une fois pour les noirs. Avec elle, chaque partie fournit deux fois plus d'exemples utiles.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Voici le coeur du projet. Les 68 tokens entrent dans un Transformer encodeur, huit couches empilees, chacune avec huit tetes d'attention. Pourquoi un Transformer plutot qu'un reseau plus classique comme un CNN ? Parce que son mecanisme d'attention relie directement n'importe quelle case a n'importe quelle autre case, en une seule etape. C'est exactement le comportement d'une tour ou d'un fou, qui agissent a distance, alors qu'un reseau convolutif classique ne regarde d'abord que les cases voisines. En sortie, le modele produit un score pour chacun des 1968 coups possibles : c'est un probleme de classification, comme reconnaitre une image, sauf qu'ici on classe une position parmi 1968 categories de coup. Au total, 6 858 416 parametres, ce qui reste tres modeste face aux modeles de DeepMind.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Question que le jury pose presque toujours : est-ce que le bot peut proposer un coup impossible ? La reponse est non, et c'est garanti par construction, pas par une verification a posteriori. Le reseau calcule un score pour les 1968 coups du vocabulaire, y compris ceux qui n'ont aucun sens dans la position actuelle. Avant de choisir, on repere tous les coups illegaux dans cette position precise, et on remplace leur score par moins l'infini. Un score de moins l'infini ne peut mathematiquement jamais etre le plus grand : le coup illegal est donc ecarte de facon absolue, quelle que soit la position, sans exception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Voici les courbes reelles de notre entrainement, pas des chiffres illustratifs. A gauche, la perte : elle part de 7,6, qui correspond au hasard pur sur 1968 coups possibles, c'est le logarithme de 1968, et descend a 3,08 apres 4 epoques. Au milieu, la top-1 : la capacite du modele a retrouver exactement le coup joue par l'humain. Elle atteint 22,7 % en fin d'entrainement. A droite, la top-5 : le bon coup est dans les 5 premieres propositions du modele 51,7 % du temps. Point important a expliquer au jury si la question vient : 22 % n'est pas un mauvais score, car dans beaucoup de positions plusieurs coups se valent. Cette mesure evalue l'imitation, pas la force de jeu reelle, c'est pour ca qu'on mesure aussi l'Elo par de vraies parties, sur la diapo suivante. Chaque epoque prend 8 a 9 minutes sur le GPU gratuit.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C'est le resultat le plus parlant du projet, celui qu'on garde pour la fin de la partie technique. Si on demande au reseau ce qu'il joue au tout premier coup, avant meme d'avoir vu un seul coup de la partie, il repond d3, developper le cavalier en c3 ou en f3, jouer d4 ou c4. Ce sont exactement les principes qu'on enseigne a un debutant : sortir ses pieces, prendre le centre. Et voici le point cle : le modele n'a jamais recu une seule regle des echecs, ni comment une piece se deplace, ni ce qu'est un echec et mat. Il a uniquement regarde des parties de joueurs forts et en a deduit ces principes tout seul. C'est la preuve concrete qu'il a appris quelque chose de reel, et pas seulement memorise des positions par coeur.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Deuxieme resultat, et le plus important pour juger honnetement le projet : le niveau reel, mesure en faisant vraiment jouer le bot, pas en extrapolant depuis la top-1. On l'a fait affronter une echelle d'adversaires de force croissante, 60 parties chacun, avec un intervalle de confiance calcule par la methode de Wilson : on ne donne jamais un chiffre seul, toujours une fourchette. Contre l'adversaire aleatoire, le bot obtient 47,5 %, un score statistiquement equivalent au hasard, autour de 230 Elo. Contre tous les adversaires plus structures, il perd presque systematiquement. Face a Stockfish bride a 1320, le reglage le plus faible que Stockfish accepte, il ne gagne aucune partie sur les 60 jouees. Notre verdict honnete : le bot se situe autour de 250 a 300 Elo, un niveau de tout premier debutant. On prefere assumer ce resultat plutot que de le maquiller.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Que retenir de ces deux resultats mis cote a cote ? Il y a une vraie force : la connaissance des principes de base, developpement des pieces, occupation du centre, acquise sans la moindre regle explicite. Mais il y a aussi une faiblesse nette : un jeu passif. Cinquante et une nulles sur soixante parties contre l'aleatoire, c'est enorme. Le bot atteint souvent des positions gagnantes, mais il ne sait pas les convertir, il tourne en rond jusqu'a la regle des 50 coups ou la triple repetition. Notre interpretation : sans recherche, le modele reconnait des schemas mais ne verifie jamais une suite de coups a l'avance. Il sait QUOI faire au debut, pas COMMENT finir. Et les courbes montraient encore une progression a la quatrieme epoque, donc un entrainement plus long aurait probablement attenue ce probleme.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On a aussi construit une application de jeu complete, dans le navigateur, sans aucune dependance a installer. Deux facons de l'utiliser : le mode Jouer, ou on affronte directement le Transformer ou n'importe quel bot de reference, et le mode spectateur, ou deux bots s'affrontent tout seuls pendant qu'on regarde et qu'on commente, pratique pour une demonstration sans risquer de se tromper de coup en direct. Le detail le plus interessant : a chaque coup joue, les probabilites reellement calculees par le reseau s'affichent a l'ecran. On ne voit pas juste le resultat, on voit litteralement le modele hesiter entre plusieurs coups en temps reel. [Montrer une courte demonstration ici si possible.]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Avec plus de temps, quatre pistes concretes permettraient d'ameliorer le bot. D'abord, changer d'objectif d'entrainement : predire la probabilite de gagner de chaque coup, comme fait DeepMind, plutot que d'imiter simplement le coup joue par l'humain. Ensuite, faire annoter nos donnees par Stockfish, pour apprendre du meilleur coup possible et pas seulement de celui qu'un humain a choisi, qui peut etre imparfait. Troisieme piste : ajouter une petite recherche, profondeur 2 ou 3, guidee par les propositions du reseau, ce qui corrigerait probablement l'essentiel des erreurs tactiques que le bot commet actuellement. Et enfin, tout simplement entrainer plus longtemps : nos courbes montaient encore a la fin, la limite venait des deconnexions de l'environnement gratuit, pas d'un plafond du modele.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Un mot sur l'organisation du binome. On s'est reparti le travail en deux axes clairs : [Prenom] a pris en charge les donnees et le modele, extraction, filtrage, encodage, architecture et entrainement du Transformer. [Prenom] s'est occupe de l'evaluation et de l'application, les moteurs de reference, le calcul d'Elo, la campagne contre Stockfish et l'interface de jeu. Le tout est versionne sur Git, avec un historique de commits qui retrace la progression. On a rencontre de vraies difficultes techniques, pas seulement conceptuelles : la lecture des donnees etait au depart 18 fois trop lente, corrigee en changeant de strategie de filtrage ; le calcul d'Elo donnait un resultat infini a 100 % de victoires, corrige avec la methode de Wilson ; et l'environnement Colab gratuit se deconnectait regulierement, ce qu'on a contourne en sauvegardant le modele sur Google Drive a chaque epoque.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Pour conclure. Nous avons montre qu'un Transformer, meme modeste, apprend a jouer aux echecs sans jamais explorer une seule variante future, juste en observant des parties d'un bon niveau. Le niveau atteint reste faible, autour de 250 Elo, mais il est reel : le modele a correctement acquis des principes d'ouverture, meme si sa fin de partie reste fragile. Surtout, la demarche est complete et rigoureuse du debut a la fin : chaine de traitement reproductible, encodage verifie par des tests automatiques, evaluation toujours accompagnee d'un intervalle de confiance. Le point que nous voulons que vous reteniez : ce projet illustre concretement la difference entre la connaissance, ce que le reseau a memorise en observant, et le calcul, la recherche qu'on a volontairement retiree. C'est cette absence de calcul qui explique a la fois ce que le modele reussit et ce qu'il rate.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Merci de votre attention, nous sommes prets pour vos questions. (Reponses preparees : pourquoi un Transformer plutot qu'un reseau convolutif : l'attention relie directement deux cases eloignees, utile pour une piece a longue portee. Comment on garantit qu'aucun coup illegal n'est joue : masquage a moins l'infini avant le choix du maximum. Pourquoi l'Elo varie autant selon l'adversaire : les Elo des baselines sont des ordres de grandeur admis, pas des valeurs calibrees officiellement.)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A1B"/>
        </a:solidFill>
        <a:effectLst/>
      </p:bgPr>
    </p:bg>
    <p:spTree>
      <p:nvGrpSpPr>
        <p:cNvPr id="1" name=""/>
        <p:cNvGrpSpPr/>
        <p:nvPr/>
      </p:nvGrpSpPr>
      <p:grpSpPr/>
      <p:sp>
        <p:nvSpPr>
          <p:cNvPr id="2" name="TextBox 1"/>
          <p:cNvSpPr txBox="1"/>
          <p:nvPr/>
        </p:nvSpPr>
        <p:spPr>
          <a:xfrm>
            <a:off x="900000" y="2450000"/>
            <a:ext cx="10400000" cy="2500000"/>
          </a:xfrm>
          <a:prstGeom prst="rect">
            <a:avLst/>
          </a:prstGeom>
          <a:noFill/>
        </p:spPr>
        <p:txBody>
          <a:bodyPr wrap="square" anchor="ctr">
            <a:spAutoFit/>
          </a:bodyPr>
          <a:lstStyle/>
          <a:p>
            <a:r>
              <a:rPr sz="5000" b="1" i="0">
                <a:solidFill>
                  <a:srgbClr val="FFFFFF"/>
                </a:solidFill>
                <a:latin typeface="Segoe UI"/>
              </a:rPr>
              <a:t>Chess Bot v1</a:t>
            </a:r>
          </a:p>
          <a:p>
            <a:pPr>
              <a:spcBef>
                <a:spcPts val="1200"/>
              </a:spcBef>
            </a:pPr>
            <a:r>
              <a:rPr sz="2100" b="1" i="0">
                <a:solidFill>
                  <a:srgbClr val="E7C6CE"/>
                </a:solidFill>
                <a:latin typeface="Segoe UI"/>
              </a:rPr>
              <a:t>Un Transformer qui joue aux echecs sans recherche</a:t>
            </a:r>
          </a:p>
          <a:p>
            <a:pPr>
              <a:spcBef>
                <a:spcPts val="800"/>
              </a:spcBef>
            </a:pPr>
            <a:r>
              <a:rPr sz="1400" b="0" i="0">
                <a:solidFill>
                  <a:srgbClr val="C9C2C5"/>
                </a:solidFill>
                <a:latin typeface="Segoe UI"/>
              </a:rPr>
              <a:t>Projet de fin de Bachelor</a:t>
            </a:r>
          </a:p>
          <a:p>
            <a:pPr>
              <a:spcBef>
                <a:spcPts val="800"/>
              </a:spcBef>
            </a:pPr>
            <a:r>
              <a:rPr sz="1400" b="0" i="0">
                <a:solidFill>
                  <a:srgbClr val="C9C2C5"/>
                </a:solidFill>
                <a:latin typeface="Segoe UI"/>
              </a:rPr>
              <a:t>[Prenom NOM] &amp; [Prenom NOM]</a:t>
            </a:r>
          </a:p>
          <a:p>
            <a:pPr>
              <a:spcBef>
                <a:spcPts val="800"/>
              </a:spcBef>
            </a:pPr>
            <a:r>
              <a:rPr sz="1400" b="0" i="0">
                <a:solidFill>
                  <a:srgbClr val="C9C2C5"/>
                </a:solidFill>
                <a:latin typeface="Segoe UI"/>
              </a:rPr>
              <a:t>[Etablissement], 24 aout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INTRODUCTION</a:t>
            </a:r>
          </a:p>
          <a:p>
            <a:r>
              <a:rPr sz="3000" b="1" i="0">
                <a:solidFill>
                  <a:srgbClr val="1C1A1B"/>
                </a:solidFill>
                <a:latin typeface="Segoe UI"/>
              </a:rPr>
              <a:t>La question de depart</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Les moteurs classiques CHERCHENT.</a:t>
            </a:r>
          </a:p>
          <a:p>
            <a:pPr>
              <a:spcAft>
                <a:spcPts val="1400"/>
              </a:spcAft>
            </a:pPr>
            <a:r>
              <a:rPr sz="1350">
                <a:solidFill>
                  <a:srgbClr val="5D5559"/>
                </a:solidFill>
                <a:latin typeface="Segoe UI"/>
              </a:rPr>
              <a:t>     Deep Blue, Stockfish : ils explorent des millions de positions futures avant de jouer un coup.</a:t>
            </a:r>
          </a:p>
          <a:p>
            <a:pPr>
              <a:spcAft>
                <a:spcPts val="1800"/>
              </a:spcAft>
            </a:pPr>
            <a:r>
              <a:rPr sz="1600" b="1">
                <a:solidFill>
                  <a:srgbClr val="B8536E"/>
                </a:solidFill>
                <a:latin typeface="Segoe UI"/>
              </a:rPr>
              <a:t>▸  </a:t>
            </a:r>
            <a:r>
              <a:rPr sz="1600" b="1">
                <a:solidFill>
                  <a:srgbClr val="1C1A1B"/>
                </a:solidFill>
                <a:latin typeface="Segoe UI"/>
              </a:rPr>
              <a:t>Notre bot, lui, ne cherche jamais.</a:t>
            </a:r>
          </a:p>
          <a:p>
            <a:pPr>
              <a:spcAft>
                <a:spcPts val="1400"/>
              </a:spcAft>
            </a:pPr>
            <a:r>
              <a:rPr sz="1350">
                <a:solidFill>
                  <a:srgbClr val="5D5559"/>
                </a:solidFill>
                <a:latin typeface="Segoe UI"/>
              </a:rPr>
              <a:t>     Il repond a l'instinct, comme un joueur humain fort en partie a la pendule tres rapide (blitz).</a:t>
            </a:r>
          </a:p>
          <a:p>
            <a:pPr>
              <a:spcAft>
                <a:spcPts val="1800"/>
              </a:spcAft>
            </a:pPr>
            <a:r>
              <a:rPr sz="1600" b="1">
                <a:solidFill>
                  <a:srgbClr val="B8536E"/>
                </a:solidFill>
                <a:latin typeface="Segoe UI"/>
              </a:rPr>
              <a:t>▸  </a:t>
            </a:r>
            <a:r>
              <a:rPr sz="1600" b="1">
                <a:solidFill>
                  <a:srgbClr val="1C1A1B"/>
                </a:solidFill>
                <a:latin typeface="Segoe UI"/>
              </a:rPr>
              <a:t>La question qu'on se pose :</a:t>
            </a:r>
          </a:p>
          <a:p>
            <a:pPr>
              <a:spcAft>
                <a:spcPts val="1400"/>
              </a:spcAft>
            </a:pPr>
            <a:r>
              <a:rPr sz="1350">
                <a:solidFill>
                  <a:srgbClr val="5D5559"/>
                </a:solidFill>
                <a:latin typeface="Segoe UI"/>
              </a:rPr>
              <a:t>     un Transformer peut-il jouer correctement rien qu'en RECONNAISSANT une position, sans jamais calculer une suite de coups ?</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ETAT DE L'ART</a:t>
            </a:r>
          </a:p>
          <a:p>
            <a:r>
              <a:rPr sz="3000" b="1" i="0">
                <a:solidFill>
                  <a:srgbClr val="1C1A1B"/>
                </a:solidFill>
                <a:latin typeface="Segoe UI"/>
              </a:rPr>
              <a:t>Contexte : les echecs et l'IA</a:t>
            </a:r>
          </a:p>
          <a:p>
            <a:pPr>
              <a:spcBef>
                <a:spcPts val="400"/>
              </a:spcBef>
            </a:pPr>
            <a:r>
              <a:rPr sz="1500" b="0" i="0">
                <a:solidFill>
                  <a:srgbClr val="5D5559"/>
                </a:solidFill>
                <a:latin typeface="Segoe UI"/>
              </a:rPr>
              <a:t>Un demi-siecle d'approches, un point commun : la recherche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1997 : Deep Blue bat Kasparov</a:t>
            </a:r>
          </a:p>
          <a:p>
            <a:pPr>
              <a:spcAft>
                <a:spcPts val="1400"/>
              </a:spcAft>
            </a:pPr>
            <a:r>
              <a:rPr sz="1350">
                <a:solidFill>
                  <a:srgbClr val="5D5559"/>
                </a:solidFill>
                <a:latin typeface="Segoe UI"/>
              </a:rPr>
              <a:t>     recherche alpha-beta massive, evaluation ecrite a la main par des experts</a:t>
            </a:r>
          </a:p>
          <a:p>
            <a:pPr>
              <a:spcAft>
                <a:spcPts val="1800"/>
              </a:spcAft>
            </a:pPr>
            <a:r>
              <a:rPr sz="1600" b="1">
                <a:solidFill>
                  <a:srgbClr val="B8536E"/>
                </a:solidFill>
                <a:latin typeface="Segoe UI"/>
              </a:rPr>
              <a:t>▸  </a:t>
            </a:r>
            <a:r>
              <a:rPr sz="1600" b="1">
                <a:solidFill>
                  <a:srgbClr val="1C1A1B"/>
                </a:solidFill>
                <a:latin typeface="Segoe UI"/>
              </a:rPr>
              <a:t>2017 : AlphaZero</a:t>
            </a:r>
          </a:p>
          <a:p>
            <a:pPr>
              <a:spcAft>
                <a:spcPts val="1400"/>
              </a:spcAft>
            </a:pPr>
            <a:r>
              <a:rPr sz="1350">
                <a:solidFill>
                  <a:srgbClr val="5D5559"/>
                </a:solidFill>
                <a:latin typeface="Segoe UI"/>
              </a:rPr>
              <a:t>     reseau de neurones + recherche arborescente (MCTS), entraine par auto-apprentissage</a:t>
            </a:r>
          </a:p>
          <a:p>
            <a:pPr>
              <a:spcAft>
                <a:spcPts val="1800"/>
              </a:spcAft>
            </a:pPr>
            <a:r>
              <a:rPr sz="1600" b="1">
                <a:solidFill>
                  <a:srgbClr val="B8536E"/>
                </a:solidFill>
                <a:latin typeface="Segoe UI"/>
              </a:rPr>
              <a:t>▸  </a:t>
            </a:r>
            <a:r>
              <a:rPr sz="1600" b="1">
                <a:solidFill>
                  <a:srgbClr val="1C1A1B"/>
                </a:solidFill>
                <a:latin typeface="Segoe UI"/>
              </a:rPr>
              <a:t>2020+ : Stockfish (NNUE)</a:t>
            </a:r>
          </a:p>
          <a:p>
            <a:pPr>
              <a:spcAft>
                <a:spcPts val="1400"/>
              </a:spcAft>
            </a:pPr>
            <a:r>
              <a:rPr sz="1350">
                <a:solidFill>
                  <a:srgbClr val="5D5559"/>
                </a:solidFill>
                <a:latin typeface="Segoe UI"/>
              </a:rPr>
              <a:t>     recherche alpha-beta tres optimisee + petit reseau d'evaluation</a:t>
            </a:r>
          </a:p>
          <a:p>
            <a:pPr>
              <a:spcAft>
                <a:spcPts val="1800"/>
              </a:spcAft>
            </a:pPr>
            <a:r>
              <a:rPr sz="1600" b="1">
                <a:solidFill>
                  <a:srgbClr val="B8536E"/>
                </a:solidFill>
                <a:latin typeface="Segoe UI"/>
              </a:rPr>
              <a:t>▸  </a:t>
            </a:r>
            <a:r>
              <a:rPr sz="1600" b="1">
                <a:solidFill>
                  <a:srgbClr val="1C1A1B"/>
                </a:solidFill>
                <a:latin typeface="Segoe UI"/>
              </a:rPr>
              <a:t>2024 : DeepMind, Grandmaster-Level Chess Without Search</a:t>
            </a:r>
          </a:p>
          <a:p>
            <a:pPr>
              <a:spcAft>
                <a:spcPts val="1400"/>
              </a:spcAft>
            </a:pPr>
            <a:r>
              <a:rPr sz="1350">
                <a:solidFill>
                  <a:srgbClr val="5D5559"/>
                </a:solidFill>
                <a:latin typeface="Segoe UI"/>
              </a:rPr>
              <a:t>     un Transformer SEUL atteint un niveau de grand maitre, c'est notre reference directe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Etat de l'art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POSITIONNEMENT</a:t>
            </a:r>
          </a:p>
          <a:p>
            <a:r>
              <a:rPr sz="3000" b="1" i="0">
                <a:solidFill>
                  <a:srgbClr val="1C1A1B"/>
                </a:solidFill>
                <a:latin typeface="Segoe UI"/>
              </a:rPr>
              <a:t>Notre pari : une version reduite et assumee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DeepMind (2024)</a:t>
            </a:r>
          </a:p>
          <a:p>
            <a:pPr>
              <a:spcAft>
                <a:spcPts val="1400"/>
              </a:spcAft>
            </a:pPr>
            <a:r>
              <a:rPr sz="1350">
                <a:solidFill>
                  <a:srgbClr val="5D5559"/>
                </a:solidFill>
                <a:latin typeface="Segoe UI"/>
              </a:rPr>
              <a:t>     270 millions de parametres · 10 millions de parties annotees par Stockfish · TPU dedies</a:t>
            </a:r>
          </a:p>
          <a:p>
            <a:pPr>
              <a:spcAft>
                <a:spcPts val="1800"/>
              </a:spcAft>
            </a:pPr>
            <a:r>
              <a:rPr sz="1600" b="1">
                <a:solidFill>
                  <a:srgbClr val="B8536E"/>
                </a:solidFill>
                <a:latin typeface="Segoe UI"/>
              </a:rPr>
              <a:t>▸  </a:t>
            </a:r>
            <a:r>
              <a:rPr sz="1600" b="1">
                <a:solidFill>
                  <a:srgbClr val="1C1A1B"/>
                </a:solidFill>
                <a:latin typeface="Segoe UI"/>
              </a:rPr>
              <a:t>Nous</a:t>
            </a:r>
          </a:p>
          <a:p>
            <a:pPr>
              <a:spcAft>
                <a:spcPts val="1400"/>
              </a:spcAft>
            </a:pPr>
            <a:r>
              <a:rPr sz="1350">
                <a:solidFill>
                  <a:srgbClr val="5D5559"/>
                </a:solidFill>
                <a:latin typeface="Segoe UI"/>
              </a:rPr>
              <a:t>     6,86 millions de parametres (x40 plus petit) · 1 million de positions · 1 GPU T4 gratuit (Google Colab)</a:t>
            </a:r>
          </a:p>
          <a:p>
            <a:pPr>
              <a:spcAft>
                <a:spcPts val="1800"/>
              </a:spcAft>
            </a:pPr>
            <a:r>
              <a:rPr sz="1600" b="1">
                <a:solidFill>
                  <a:srgbClr val="B8536E"/>
                </a:solidFill>
                <a:latin typeface="Segoe UI"/>
              </a:rPr>
              <a:t>▸  </a:t>
            </a:r>
            <a:r>
              <a:rPr sz="1600" b="1">
                <a:solidFill>
                  <a:srgbClr val="1C1A1B"/>
                </a:solidFill>
                <a:latin typeface="Segoe UI"/>
              </a:rPr>
              <a:t>Consequence assumee</a:t>
            </a:r>
          </a:p>
          <a:p>
            <a:pPr>
              <a:spcAft>
                <a:spcPts val="1400"/>
              </a:spcAft>
            </a:pPr>
            <a:r>
              <a:rPr sz="1350">
                <a:solidFill>
                  <a:srgbClr val="5D5559"/>
                </a:solidFill>
                <a:latin typeface="Segoe UI"/>
              </a:rPr>
              <a:t>     on ne vise pas a battre Stockfish. L'objectif est de mesurer honnetement ce qu'un petit modele apprend, avec la meme rigueur experimentale.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Positionnement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COMMENT CA MARCHE</a:t>
            </a:r>
          </a:p>
          <a:p>
            <a:r>
              <a:rPr sz="3000" b="1" i="0">
                <a:solidFill>
                  <a:srgbClr val="1C1A1B"/>
                </a:solidFill>
                <a:latin typeface="Segoe UI"/>
              </a:rPr>
              <a:t>Vue d'ensemble</a:t>
            </a:r>
          </a:p>
          <a:p>
            <a:pPr>
              <a:spcBef>
                <a:spcPts val="400"/>
              </a:spcBef>
            </a:pPr>
            <a:r>
              <a:rPr sz="1500" b="0" i="0">
                <a:solidFill>
                  <a:srgbClr val="5D5559"/>
                </a:solidFill>
                <a:latin typeface="Segoe UI"/>
              </a:rPr>
              <a:t>Quatre etapes, de la partie brute au coup joue</a:t>
            </a:r>
          </a:p>
        </p:txBody>
      </p:sp>
      <p:sp>
        <p:nvSpPr>
          <p:cNvPr id="4" name="Rounded Rectangle 3"/>
          <p:cNvSpPr/>
          <p:nvPr/>
        </p:nvSpPr>
        <p:spPr>
          <a:xfrm>
            <a:off x="916000" y="2650000"/>
            <a:ext cx="2380000" cy="56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DONNEES</a:t>
            </a:r>
          </a:p>
        </p:txBody>
      </p:sp>
      <p:sp>
        <p:nvSpPr>
          <p:cNvPr id="5" name="Rounded Rectangle 4"/>
          <p:cNvSpPr/>
          <p:nvPr/>
        </p:nvSpPr>
        <p:spPr>
          <a:xfrm>
            <a:off x="91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1M de positions</a:t>
            </a:r>
          </a:p>
          <a:p>
            <a:pPr algn="ctr"/>
            <a:r>
              <a:rPr sz="1250" b="0" i="0">
                <a:solidFill>
                  <a:srgbClr val="1C1A1B"/>
                </a:solidFill>
                <a:latin typeface="Segoe UI"/>
              </a:rPr>
              <a:t>issues de Lichess</a:t>
            </a:r>
          </a:p>
        </p:txBody>
      </p:sp>
      <p:sp>
        <p:nvSpPr>
          <p:cNvPr id="6" name="Oval 5"/>
          <p:cNvSpPr/>
          <p:nvPr/>
        </p:nvSpPr>
        <p:spPr>
          <a:xfrm>
            <a:off x="188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1</a:t>
            </a:r>
          </a:p>
        </p:txBody>
      </p:sp>
      <p:cxnSp>
        <p:nvCxnSpPr>
          <p:cNvPr id="7" name="Connector 6"/>
          <p:cNvCxnSpPr/>
          <p:nvPr/>
        </p:nvCxnSpPr>
        <p:spPr>
          <a:xfrm>
            <a:off x="3338000" y="355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76000" y="2650000"/>
            <a:ext cx="2380000" cy="56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ENCODAGE</a:t>
            </a:r>
          </a:p>
        </p:txBody>
      </p:sp>
      <p:sp>
        <p:nvSpPr>
          <p:cNvPr id="9" name="Rounded Rectangle 8"/>
          <p:cNvSpPr/>
          <p:nvPr/>
        </p:nvSpPr>
        <p:spPr>
          <a:xfrm>
            <a:off x="357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chaque position</a:t>
            </a:r>
          </a:p>
          <a:p>
            <a:pPr algn="ctr"/>
            <a:r>
              <a:rPr sz="1250" b="0" i="0">
                <a:solidFill>
                  <a:srgbClr val="1C1A1B"/>
                </a:solidFill>
                <a:latin typeface="Segoe UI"/>
              </a:rPr>
              <a:t>-&gt; 68 nombres</a:t>
            </a:r>
          </a:p>
        </p:txBody>
      </p:sp>
      <p:sp>
        <p:nvSpPr>
          <p:cNvPr id="10" name="Oval 9"/>
          <p:cNvSpPr/>
          <p:nvPr/>
        </p:nvSpPr>
        <p:spPr>
          <a:xfrm>
            <a:off x="454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2</a:t>
            </a:r>
          </a:p>
        </p:txBody>
      </p:sp>
      <p:cxnSp>
        <p:nvCxnSpPr>
          <p:cNvPr id="11" name="Connector 10"/>
          <p:cNvCxnSpPr/>
          <p:nvPr/>
        </p:nvCxnSpPr>
        <p:spPr>
          <a:xfrm>
            <a:off x="5998000" y="355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36000" y="2650000"/>
            <a:ext cx="2380000" cy="56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MODELE</a:t>
            </a:r>
          </a:p>
        </p:txBody>
      </p:sp>
      <p:sp>
        <p:nvSpPr>
          <p:cNvPr id="13" name="Rounded Rectangle 12"/>
          <p:cNvSpPr/>
          <p:nvPr/>
        </p:nvSpPr>
        <p:spPr>
          <a:xfrm>
            <a:off x="623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le Transformer</a:t>
            </a:r>
          </a:p>
          <a:p>
            <a:pPr algn="ctr"/>
            <a:r>
              <a:rPr sz="1250" b="0" i="0">
                <a:solidFill>
                  <a:srgbClr val="1C1A1B"/>
                </a:solidFill>
                <a:latin typeface="Segoe UI"/>
              </a:rPr>
              <a:t>note 1968 coups</a:t>
            </a:r>
          </a:p>
        </p:txBody>
      </p:sp>
      <p:sp>
        <p:nvSpPr>
          <p:cNvPr id="14" name="Oval 13"/>
          <p:cNvSpPr/>
          <p:nvPr/>
        </p:nvSpPr>
        <p:spPr>
          <a:xfrm>
            <a:off x="720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3</a:t>
            </a:r>
          </a:p>
        </p:txBody>
      </p:sp>
      <p:cxnSp>
        <p:nvCxnSpPr>
          <p:cNvPr id="15" name="Connector 14"/>
          <p:cNvCxnSpPr/>
          <p:nvPr/>
        </p:nvCxnSpPr>
        <p:spPr>
          <a:xfrm>
            <a:off x="8658000" y="355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896000" y="2650000"/>
            <a:ext cx="2380000" cy="56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EVALUATION</a:t>
            </a:r>
          </a:p>
        </p:txBody>
      </p:sp>
      <p:sp>
        <p:nvSpPr>
          <p:cNvPr id="17" name="Rounded Rectangle 16"/>
          <p:cNvSpPr/>
          <p:nvPr/>
        </p:nvSpPr>
        <p:spPr>
          <a:xfrm>
            <a:off x="889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matchs juges</a:t>
            </a:r>
          </a:p>
          <a:p>
            <a:pPr algn="ctr"/>
            <a:r>
              <a:rPr sz="1250" b="0" i="0">
                <a:solidFill>
                  <a:srgbClr val="1C1A1B"/>
                </a:solidFill>
                <a:latin typeface="Segoe UI"/>
              </a:rPr>
              <a:t>-&gt; Elo</a:t>
            </a:r>
          </a:p>
        </p:txBody>
      </p:sp>
      <p:sp>
        <p:nvSpPr>
          <p:cNvPr id="18" name="Oval 17"/>
          <p:cNvSpPr/>
          <p:nvPr/>
        </p:nvSpPr>
        <p:spPr>
          <a:xfrm>
            <a:off x="986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4</a:t>
            </a:r>
          </a:p>
        </p:txBody>
      </p:sp>
      <p:sp>
        <p:nvSpPr>
          <p:cNvPr id="19" name="TextBox 18"/>
          <p:cNvSpPr txBox="1"/>
          <p:nvPr/>
        </p:nvSpPr>
        <p:spPr>
          <a:xfrm>
            <a:off x="700000" y="5150000"/>
            <a:ext cx="10800000" cy="500000"/>
          </a:xfrm>
          <a:prstGeom prst="rect">
            <a:avLst/>
          </a:prstGeom>
          <a:noFill/>
        </p:spPr>
        <p:txBody>
          <a:bodyPr wrap="square" anchor="t">
            <a:spAutoFit/>
          </a:bodyPr>
          <a:lstStyle/>
          <a:p>
            <a:pPr algn="ctr"/>
            <a:r>
              <a:rPr sz="1150" b="0" i="1">
                <a:solidFill>
                  <a:srgbClr val="5D5559"/>
                </a:solidFill>
                <a:latin typeface="Segoe UI"/>
              </a:rPr>
              <a:t>L'entrainement est du clonage comportemental : le reseau apprend a imiter le coup joue par un joueur fort dans chaque position.</a:t>
            </a:r>
          </a:p>
        </p:txBody>
      </p:sp>
      <p:sp>
        <p:nvSpPr>
          <p:cNvPr id="20" name="TextBox 19"/>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Architecture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DONNEES</a:t>
            </a:r>
          </a:p>
          <a:p>
            <a:r>
              <a:rPr sz="3000" b="1" i="0">
                <a:solidFill>
                  <a:srgbClr val="1C1A1B"/>
                </a:solidFill>
                <a:latin typeface="Segoe UI"/>
              </a:rPr>
              <a:t>Etape 1 : les donnees</a:t>
            </a:r>
          </a:p>
          <a:p>
            <a:pPr>
              <a:spcBef>
                <a:spcPts val="400"/>
              </a:spcBef>
            </a:pPr>
            <a:r>
              <a:rPr sz="1500" b="0" i="0">
                <a:solidFill>
                  <a:srgbClr val="5D5559"/>
                </a:solidFill>
                <a:latin typeface="Segoe UI"/>
              </a:rPr>
              <a:t>Filtrer pour apprendre d'un bon joueur, pas de n'importe qui</a:t>
            </a:r>
          </a:p>
        </p:txBody>
      </p:sp>
      <p:sp>
        <p:nvSpPr>
          <p:cNvPr id="4" name="Rounded Rectangle 3"/>
          <p:cNvSpPr/>
          <p:nvPr/>
        </p:nvSpPr>
        <p:spPr>
          <a:xfrm>
            <a:off x="1196000" y="1900000"/>
            <a:ext cx="9800000" cy="560000"/>
          </a:xfrm>
          <a:prstGeom prst="roundRect">
            <a:avLst/>
          </a:prstGeom>
          <a:solidFill>
            <a:srgbClr val="FFFFFF"/>
          </a:solidFill>
          <a:ln w="15240">
            <a:solidFill>
              <a:srgbClr val="DDD6D9"/>
            </a:solid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500" b="1" i="0">
                <a:solidFill>
                  <a:srgbClr val="1C1A1B"/>
                </a:solidFill>
                <a:latin typeface="Segoe UI"/>
              </a:rPr>
              <a:t>186 057 parties lues</a:t>
            </a:r>
          </a:p>
          <a:p>
            <a:pPr algn="ctr">
              <a:spcBef>
                <a:spcPts val="300"/>
              </a:spcBef>
            </a:pPr>
            <a:r>
              <a:rPr sz="1050" b="0" i="0">
                <a:solidFill>
                  <a:srgbClr val="5D5559"/>
                </a:solidFill>
                <a:latin typeface="Segoe UI"/>
              </a:rPr>
              <a:t>archive Lichess de janvier 2024, lue en flux (aucune decompression sur le disque)</a:t>
            </a:r>
          </a:p>
        </p:txBody>
      </p:sp>
      <p:cxnSp>
        <p:nvCxnSpPr>
          <p:cNvPr id="5" name="Connector 4"/>
          <p:cNvCxnSpPr/>
          <p:nvPr/>
        </p:nvCxnSpPr>
        <p:spPr>
          <a:xfrm>
            <a:off x="6096000" y="2400000"/>
            <a:ext cx="0" cy="9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496000" y="2550000"/>
            <a:ext cx="9200000" cy="78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500" b="1" i="0">
                <a:solidFill>
                  <a:srgbClr val="1C1A1B"/>
                </a:solidFill>
                <a:latin typeface="Segoe UI"/>
              </a:rPr>
              <a:t>Filtres appliques</a:t>
            </a:r>
          </a:p>
          <a:p>
            <a:pPr algn="ctr">
              <a:spcBef>
                <a:spcPts val="300"/>
              </a:spcBef>
            </a:pPr>
            <a:r>
              <a:rPr sz="1050" b="0" i="0">
                <a:solidFill>
                  <a:srgbClr val="5D5559"/>
                </a:solidFill>
                <a:latin typeface="Segoe UI"/>
              </a:rPr>
              <a:t>Elo des deux joueurs &gt;= 2000  ·  cadence &gt;= 180 s (exclut le bullet)  ·  partie terminee  ·  8 premiers demi-coups ignores (ouverture memorisee)</a:t>
            </a:r>
          </a:p>
        </p:txBody>
      </p:sp>
      <p:cxnSp>
        <p:nvCxnSpPr>
          <p:cNvPr id="7" name="Connector 6"/>
          <p:cNvCxnSpPr/>
          <p:nvPr/>
        </p:nvCxnSpPr>
        <p:spPr>
          <a:xfrm>
            <a:off x="6096000" y="3270000"/>
            <a:ext cx="0" cy="9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796000" y="3420000"/>
            <a:ext cx="8600000" cy="560000"/>
          </a:xfrm>
          <a:prstGeom prst="roundRect">
            <a:avLst/>
          </a:prstGeom>
          <a:solidFill>
            <a:srgbClr val="FFFFFF"/>
          </a:solidFill>
          <a:ln w="15240">
            <a:solidFill>
              <a:srgbClr val="DDD6D9"/>
            </a:solid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500" b="1" i="0">
                <a:solidFill>
                  <a:srgbClr val="1C1A1B"/>
                </a:solidFill>
                <a:latin typeface="Segoe UI"/>
              </a:rPr>
              <a:t>14 456 parties gardees</a:t>
            </a:r>
          </a:p>
          <a:p>
            <a:pPr algn="ctr">
              <a:spcBef>
                <a:spcPts val="300"/>
              </a:spcBef>
            </a:pPr>
            <a:r>
              <a:rPr sz="1050" b="0" i="0">
                <a:solidFill>
                  <a:srgbClr val="5D5559"/>
                </a:solidFill>
                <a:latin typeface="Segoe UI"/>
              </a:rPr>
              <a:t>soit 7,8 % des parties lues</a:t>
            </a:r>
          </a:p>
        </p:txBody>
      </p:sp>
      <p:cxnSp>
        <p:nvCxnSpPr>
          <p:cNvPr id="9" name="Connector 8"/>
          <p:cNvCxnSpPr/>
          <p:nvPr/>
        </p:nvCxnSpPr>
        <p:spPr>
          <a:xfrm>
            <a:off x="6096000" y="3920000"/>
            <a:ext cx="0" cy="9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6000" y="4070000"/>
            <a:ext cx="10800000" cy="78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FFFFFF"/>
                </a:solidFill>
                <a:latin typeface="Segoe UI"/>
              </a:rPr>
              <a:t/>
            </a:r>
            <a:r>
              <a:rPr sz="1500" b="1" i="0">
                <a:solidFill>
                  <a:srgbClr val="FFFFFF"/>
                </a:solidFill>
                <a:latin typeface="Segoe UI"/>
              </a:rPr>
              <a:t>1 000 012 positions</a:t>
            </a:r>
          </a:p>
          <a:p>
            <a:pPr algn="ctr">
              <a:spcBef>
                <a:spcPts val="300"/>
              </a:spcBef>
            </a:pPr>
            <a:r>
              <a:rPr sz="1050" b="0" i="0">
                <a:solidFill>
                  <a:srgbClr val="FFFFFF"/>
                </a:solidFill>
                <a:latin typeface="Segoe UI"/>
              </a:rPr>
              <a:t>980 440 pour l'entrainement · 19 572 pour la validation (separees PAR PARTIE, jamais par position, pour eviter la fuite de donnees)</a:t>
            </a:r>
          </a:p>
        </p:txBody>
      </p:sp>
      <p:sp>
        <p:nvSpPr>
          <p:cNvPr id="11" name="TextBox 10"/>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Donnees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ENCODAGE</a:t>
            </a:r>
          </a:p>
          <a:p>
            <a:r>
              <a:rPr sz="3000" b="1" i="0">
                <a:solidFill>
                  <a:srgbClr val="1C1A1B"/>
                </a:solidFill>
                <a:latin typeface="Segoe UI"/>
              </a:rPr>
              <a:t>Etape 2 : encoder une position</a:t>
            </a:r>
          </a:p>
          <a:p>
            <a:pPr>
              <a:spcBef>
                <a:spcPts val="400"/>
              </a:spcBef>
            </a:pPr>
            <a:r>
              <a:rPr sz="1500" b="0" i="0">
                <a:solidFill>
                  <a:srgbClr val="5D5559"/>
                </a:solidFill>
                <a:latin typeface="Segoe UI"/>
              </a:rPr>
              <a:t>Une position d'echecs devient une sequence de 68 nombres</a:t>
            </a:r>
          </a:p>
        </p:txBody>
      </p:sp>
      <p:sp>
        <p:nvSpPr>
          <p:cNvPr id="4" name="Rectangle 3"/>
          <p:cNvSpPr/>
          <p:nvPr/>
        </p:nvSpPr>
        <p:spPr>
          <a:xfrm>
            <a:off x="95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8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1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7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0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3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5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8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1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4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7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0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8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1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7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0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3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8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1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7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0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3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6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8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41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4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7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0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3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6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8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41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64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87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10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3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6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5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8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1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64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87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10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3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56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5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18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41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64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87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10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3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6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50000" y="3950000"/>
            <a:ext cx="1840000" cy="500000"/>
          </a:xfrm>
          <a:prstGeom prst="rect">
            <a:avLst/>
          </a:prstGeom>
          <a:noFill/>
        </p:spPr>
        <p:txBody>
          <a:bodyPr wrap="square" anchor="t">
            <a:spAutoFit/>
          </a:bodyPr>
          <a:lstStyle/>
          <a:p>
            <a:pPr algn="ctr"/>
            <a:r>
              <a:rPr sz="1100" b="0" i="1">
                <a:solidFill>
                  <a:srgbClr val="5D5559"/>
                </a:solidFill>
                <a:latin typeface="Segoe UI"/>
              </a:rPr>
              <a:t>L'echiquier : 64 cases</a:t>
            </a:r>
          </a:p>
        </p:txBody>
      </p:sp>
      <p:cxnSp>
        <p:nvCxnSpPr>
          <p:cNvPr id="69" name="Connector 68"/>
          <p:cNvCxnSpPr/>
          <p:nvPr/>
        </p:nvCxnSpPr>
        <p:spPr>
          <a:xfrm>
            <a:off x="2940000" y="2970000"/>
            <a:ext cx="600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3690000" y="205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tokens 0 - 63</a:t>
            </a:r>
          </a:p>
          <a:p>
            <a:pPr>
              <a:spcBef>
                <a:spcPts val="200"/>
              </a:spcBef>
            </a:pPr>
            <a:r>
              <a:rPr sz="1050" b="0" i="0">
                <a:solidFill>
                  <a:srgbClr val="5D5559"/>
                </a:solidFill>
                <a:latin typeface="Segoe UI"/>
              </a:rPr>
              <a:t>contenu de chaque case (0 = vide, 1-6 = pieces alliees, 7-12 = pieces adverses)</a:t>
            </a:r>
          </a:p>
        </p:txBody>
      </p:sp>
      <p:sp>
        <p:nvSpPr>
          <p:cNvPr id="71" name="Rounded Rectangle 70"/>
          <p:cNvSpPr/>
          <p:nvPr/>
        </p:nvSpPr>
        <p:spPr>
          <a:xfrm>
            <a:off x="3690000" y="270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 64</a:t>
            </a:r>
          </a:p>
          <a:p>
            <a:pPr>
              <a:spcBef>
                <a:spcPts val="200"/>
              </a:spcBef>
            </a:pPr>
            <a:r>
              <a:rPr sz="1050" b="0" i="0">
                <a:solidFill>
                  <a:srgbClr val="5D5559"/>
                </a:solidFill>
                <a:latin typeface="Segoe UI"/>
              </a:rPr>
              <a:t>le trait (qui doit jouer)</a:t>
            </a:r>
          </a:p>
        </p:txBody>
      </p:sp>
      <p:sp>
        <p:nvSpPr>
          <p:cNvPr id="72" name="Rounded Rectangle 71"/>
          <p:cNvSpPr/>
          <p:nvPr/>
        </p:nvSpPr>
        <p:spPr>
          <a:xfrm>
            <a:off x="3690000" y="335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tokens 65 - 66</a:t>
            </a:r>
          </a:p>
          <a:p>
            <a:pPr>
              <a:spcBef>
                <a:spcPts val="200"/>
              </a:spcBef>
            </a:pPr>
            <a:r>
              <a:rPr sz="1050" b="0" i="0">
                <a:solidFill>
                  <a:srgbClr val="5D5559"/>
                </a:solidFill>
                <a:latin typeface="Segoe UI"/>
              </a:rPr>
              <a:t>droits de roque</a:t>
            </a:r>
          </a:p>
        </p:txBody>
      </p:sp>
      <p:sp>
        <p:nvSpPr>
          <p:cNvPr id="73" name="Rounded Rectangle 72"/>
          <p:cNvSpPr/>
          <p:nvPr/>
        </p:nvSpPr>
        <p:spPr>
          <a:xfrm>
            <a:off x="3690000" y="400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 67</a:t>
            </a:r>
          </a:p>
          <a:p>
            <a:pPr>
              <a:spcBef>
                <a:spcPts val="200"/>
              </a:spcBef>
            </a:pPr>
            <a:r>
              <a:rPr sz="1050" b="0" i="0">
                <a:solidFill>
                  <a:srgbClr val="5D5559"/>
                </a:solidFill>
                <a:latin typeface="Segoe UI"/>
              </a:rPr>
              <a:t>case de prise en passant</a:t>
            </a:r>
          </a:p>
        </p:txBody>
      </p:sp>
      <p:sp>
        <p:nvSpPr>
          <p:cNvPr id="74" name="Rounded Rectangle 73"/>
          <p:cNvSpPr/>
          <p:nvPr/>
        </p:nvSpPr>
        <p:spPr>
          <a:xfrm>
            <a:off x="3690000" y="4650000"/>
            <a:ext cx="4700000" cy="50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 68 tokens en entree du reseau</a:t>
            </a:r>
          </a:p>
        </p:txBody>
      </p:sp>
      <p:sp>
        <p:nvSpPr>
          <p:cNvPr id="75" name="TextBox 74"/>
          <p:cNvSpPr txBox="1"/>
          <p:nvPr/>
        </p:nvSpPr>
        <p:spPr>
          <a:xfrm>
            <a:off x="700000" y="5980000"/>
            <a:ext cx="10800000" cy="500000"/>
          </a:xfrm>
          <a:prstGeom prst="rect">
            <a:avLst/>
          </a:prstGeom>
          <a:noFill/>
        </p:spPr>
        <p:txBody>
          <a:bodyPr wrap="square" anchor="t">
            <a:spAutoFit/>
          </a:bodyPr>
          <a:lstStyle/>
          <a:p>
            <a:pPr algn="ctr"/>
            <a:r>
              <a:rPr sz="1150" b="0" i="1">
                <a:solidFill>
                  <a:srgbClr val="5D5559"/>
                </a:solidFill>
                <a:latin typeface="Segoe UI"/>
              </a:rPr>
              <a:t>Astuce cle : l'echiquier est toujours retourne du point de vue du joueur au trait. Le modele n'apprend ainsi qu'un seul point de vue, deux fois plus vite.</a:t>
            </a:r>
          </a:p>
        </p:txBody>
      </p:sp>
      <p:sp>
        <p:nvSpPr>
          <p:cNvPr id="76" name="TextBox 7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Encodage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ARCHITECTURE</a:t>
            </a:r>
          </a:p>
          <a:p>
            <a:r>
              <a:rPr sz="3000" b="1" i="0">
                <a:solidFill>
                  <a:srgbClr val="1C1A1B"/>
                </a:solidFill>
                <a:latin typeface="Segoe UI"/>
              </a:rPr>
              <a:t>Etape 3 : le modele</a:t>
            </a:r>
          </a:p>
          <a:p>
            <a:pPr>
              <a:spcBef>
                <a:spcPts val="400"/>
              </a:spcBef>
            </a:pPr>
            <a:r>
              <a:rPr sz="1500" b="0" i="0">
                <a:solidFill>
                  <a:srgbClr val="5D5559"/>
                </a:solidFill>
                <a:latin typeface="Segoe UI"/>
              </a:rPr>
              <a:t>Un Transformer encodeur de 6,86 millions de parametres</a:t>
            </a:r>
          </a:p>
        </p:txBody>
      </p:sp>
      <p:sp>
        <p:nvSpPr>
          <p:cNvPr id="4" name="Rounded Rectangle 3"/>
          <p:cNvSpPr/>
          <p:nvPr/>
        </p:nvSpPr>
        <p:spPr>
          <a:xfrm>
            <a:off x="4496000" y="1850000"/>
            <a:ext cx="3200000" cy="48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Entree : 68 tokens</a:t>
            </a:r>
          </a:p>
        </p:txBody>
      </p:sp>
      <p:cxnSp>
        <p:nvCxnSpPr>
          <p:cNvPr id="5" name="Connector 4"/>
          <p:cNvCxnSpPr/>
          <p:nvPr/>
        </p:nvCxnSpPr>
        <p:spPr>
          <a:xfrm>
            <a:off x="6096000" y="2330000"/>
            <a:ext cx="0" cy="10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96000" y="2510000"/>
            <a:ext cx="5200000" cy="310000"/>
          </a:xfrm>
          <a:prstGeom prst="roundRect">
            <a:avLst/>
          </a:prstGeom>
          <a:solidFill>
            <a:srgbClr val="E7C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Couche d'attention</a:t>
            </a:r>
          </a:p>
        </p:txBody>
      </p:sp>
      <p:sp>
        <p:nvSpPr>
          <p:cNvPr id="7" name="Rounded Rectangle 6"/>
          <p:cNvSpPr/>
          <p:nvPr/>
        </p:nvSpPr>
        <p:spPr>
          <a:xfrm>
            <a:off x="3496000" y="2890000"/>
            <a:ext cx="5200000" cy="310000"/>
          </a:xfrm>
          <a:prstGeom prst="roundRect">
            <a:avLst/>
          </a:prstGeom>
          <a:solidFill>
            <a:srgbClr val="E7C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Couche d'attention</a:t>
            </a:r>
          </a:p>
        </p:txBody>
      </p:sp>
      <p:sp>
        <p:nvSpPr>
          <p:cNvPr id="8" name="Rounded Rectangle 7"/>
          <p:cNvSpPr/>
          <p:nvPr/>
        </p:nvSpPr>
        <p:spPr>
          <a:xfrm>
            <a:off x="3496000" y="3270000"/>
            <a:ext cx="5200000" cy="31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a:t>
            </a:r>
          </a:p>
        </p:txBody>
      </p:sp>
      <p:sp>
        <p:nvSpPr>
          <p:cNvPr id="9" name="TextBox 8"/>
          <p:cNvSpPr txBox="1"/>
          <p:nvPr/>
        </p:nvSpPr>
        <p:spPr>
          <a:xfrm>
            <a:off x="3496000" y="3680000"/>
            <a:ext cx="5200000" cy="500000"/>
          </a:xfrm>
          <a:prstGeom prst="rect">
            <a:avLst/>
          </a:prstGeom>
          <a:noFill/>
        </p:spPr>
        <p:txBody>
          <a:bodyPr wrap="square" anchor="t">
            <a:spAutoFit/>
          </a:bodyPr>
          <a:lstStyle/>
          <a:p>
            <a:pPr algn="ctr"/>
            <a:r>
              <a:rPr sz="1150" b="0" i="0">
                <a:solidFill>
                  <a:srgbClr val="5D5559"/>
                </a:solidFill>
                <a:latin typeface="Segoe UI"/>
              </a:rPr>
              <a:t>x 8 couches  ·  8 tetes d'attention par couche  ·  dimension 256</a:t>
            </a:r>
          </a:p>
        </p:txBody>
      </p:sp>
      <p:cxnSp>
        <p:nvCxnSpPr>
          <p:cNvPr id="10" name="Connector 9"/>
          <p:cNvCxnSpPr/>
          <p:nvPr/>
        </p:nvCxnSpPr>
        <p:spPr>
          <a:xfrm>
            <a:off x="6096000" y="3990000"/>
            <a:ext cx="0" cy="34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496000" y="4330000"/>
            <a:ext cx="3200000" cy="48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Sortie : 1 score par coup (1968)</a:t>
            </a:r>
          </a:p>
        </p:txBody>
      </p:sp>
      <p:sp>
        <p:nvSpPr>
          <p:cNvPr id="12" name="Rounded Rectangle 11"/>
          <p:cNvSpPr/>
          <p:nvPr/>
        </p:nvSpPr>
        <p:spPr>
          <a:xfrm>
            <a:off x="9296000" y="1900000"/>
            <a:ext cx="2600000" cy="95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6 858 416</a:t>
            </a:r>
          </a:p>
          <a:p>
            <a:pPr algn="ctr"/>
            <a:r>
              <a:rPr sz="1150" b="0" i="0">
                <a:solidFill>
                  <a:srgbClr val="1C1A1B"/>
                </a:solidFill>
                <a:latin typeface="Segoe UI"/>
              </a:rPr>
              <a:t>parametres au total</a:t>
            </a:r>
          </a:p>
        </p:txBody>
      </p:sp>
      <p:sp>
        <p:nvSpPr>
          <p:cNvPr id="13" name="Rounded Rectangle 12"/>
          <p:cNvSpPr/>
          <p:nvPr/>
        </p:nvSpPr>
        <p:spPr>
          <a:xfrm>
            <a:off x="9296000" y="2950000"/>
            <a:ext cx="2600000" cy="95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Pre-normalisation</a:t>
            </a:r>
          </a:p>
          <a:p>
            <a:pPr algn="ctr"/>
            <a:r>
              <a:rPr sz="1150" b="0" i="0">
                <a:solidFill>
                  <a:srgbClr val="1C1A1B"/>
                </a:solidFill>
                <a:latin typeface="Segoe UI"/>
              </a:rPr>
              <a:t>stabilise l'entrainement d'un reseau profond</a:t>
            </a:r>
          </a:p>
        </p:txBody>
      </p:sp>
      <p:sp>
        <p:nvSpPr>
          <p:cNvPr id="14" name="Rounded Rectangle 13"/>
          <p:cNvSpPr/>
          <p:nvPr/>
        </p:nvSpPr>
        <p:spPr>
          <a:xfrm>
            <a:off x="9296000" y="4000000"/>
            <a:ext cx="2600000" cy="95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Attention</a:t>
            </a:r>
          </a:p>
          <a:p>
            <a:pPr algn="ctr"/>
            <a:r>
              <a:rPr sz="1150" b="0" i="0">
                <a:solidFill>
                  <a:srgbClr val="1C1A1B"/>
                </a:solidFill>
                <a:latin typeface="Segoe UI"/>
              </a:rPr>
              <a:t>relie directement 2 cases eloignees - utile pour une tour ou un fou</a:t>
            </a:r>
          </a:p>
        </p:txBody>
      </p:sp>
      <p:sp>
        <p:nvSpPr>
          <p:cNvPr id="15" name="TextBox 1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Architecture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ARCHITECTURE</a:t>
            </a:r>
          </a:p>
          <a:p>
            <a:r>
              <a:rPr sz="3000" b="1" i="0">
                <a:solidFill>
                  <a:srgbClr val="1C1A1B"/>
                </a:solidFill>
                <a:latin typeface="Segoe UI"/>
              </a:rPr>
              <a:t>Choisir un coup legal</a:t>
            </a:r>
          </a:p>
          <a:p>
            <a:pPr>
              <a:spcBef>
                <a:spcPts val="400"/>
              </a:spcBef>
            </a:pPr>
            <a:r>
              <a:rPr sz="1500" b="0" i="0">
                <a:solidFill>
                  <a:srgbClr val="5D5559"/>
                </a:solidFill>
                <a:latin typeface="Segoe UI"/>
              </a:rPr>
              <a:t>Le bot ne peut pas tricher : c'est impossible par construction</a:t>
            </a:r>
          </a:p>
        </p:txBody>
      </p:sp>
      <p:sp>
        <p:nvSpPr>
          <p:cNvPr id="4" name="Rounded Rectangle 3"/>
          <p:cNvSpPr/>
          <p:nvPr/>
        </p:nvSpPr>
        <p:spPr>
          <a:xfrm>
            <a:off x="676000" y="2350000"/>
            <a:ext cx="2500000" cy="150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Le reseau note</a:t>
            </a:r>
          </a:p>
          <a:p>
            <a:pPr algn="ctr"/>
            <a:r>
              <a:rPr sz="1300" b="0" i="0">
                <a:solidFill>
                  <a:srgbClr val="1C1A1B"/>
                </a:solidFill>
                <a:latin typeface="Segoe UI"/>
              </a:rPr>
              <a:t>les 1968 coups</a:t>
            </a:r>
          </a:p>
        </p:txBody>
      </p:sp>
      <p:cxnSp>
        <p:nvCxnSpPr>
          <p:cNvPr id="5" name="Connector 4"/>
          <p:cNvCxnSpPr/>
          <p:nvPr/>
        </p:nvCxnSpPr>
        <p:spPr>
          <a:xfrm>
            <a:off x="3218000" y="310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56000" y="2350000"/>
            <a:ext cx="2500000" cy="1500000"/>
          </a:xfrm>
          <a:prstGeom prst="roundRect">
            <a:avLst/>
          </a:prstGeom>
          <a:solidFill>
            <a:srgbClr val="E7C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On repere les coups</a:t>
            </a:r>
          </a:p>
          <a:p>
            <a:pPr algn="ctr"/>
            <a:r>
              <a:rPr sz="1300" b="0" i="0">
                <a:solidFill>
                  <a:srgbClr val="1C1A1B"/>
                </a:solidFill>
                <a:latin typeface="Segoe UI"/>
              </a:rPr>
              <a:t>ILLEGAUX dans</a:t>
            </a:r>
          </a:p>
          <a:p>
            <a:pPr algn="ctr"/>
            <a:r>
              <a:rPr sz="1300" b="0" i="0">
                <a:solidFill>
                  <a:srgbClr val="1C1A1B"/>
                </a:solidFill>
                <a:latin typeface="Segoe UI"/>
              </a:rPr>
              <a:t>la position actuelle</a:t>
            </a:r>
          </a:p>
        </p:txBody>
      </p:sp>
      <p:cxnSp>
        <p:nvCxnSpPr>
          <p:cNvPr id="7" name="Connector 6"/>
          <p:cNvCxnSpPr/>
          <p:nvPr/>
        </p:nvCxnSpPr>
        <p:spPr>
          <a:xfrm>
            <a:off x="5998000" y="310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36000" y="2350000"/>
            <a:ext cx="2500000" cy="150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FFFFFF"/>
                </a:solidFill>
                <a:latin typeface="Segoe UI"/>
              </a:rPr>
              <a:t>Leur score devient</a:t>
            </a:r>
          </a:p>
          <a:p>
            <a:pPr algn="ctr"/>
            <a:r>
              <a:rPr sz="1300" b="0" i="0">
                <a:solidFill>
                  <a:srgbClr val="FFFFFF"/>
                </a:solidFill>
                <a:latin typeface="Segoe UI"/>
              </a:rPr>
              <a:t>-l'infini</a:t>
            </a:r>
          </a:p>
        </p:txBody>
      </p:sp>
      <p:cxnSp>
        <p:nvCxnSpPr>
          <p:cNvPr id="9" name="Connector 8"/>
          <p:cNvCxnSpPr/>
          <p:nvPr/>
        </p:nvCxnSpPr>
        <p:spPr>
          <a:xfrm>
            <a:off x="8778000" y="310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016000" y="2350000"/>
            <a:ext cx="2500000" cy="150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On garde le</a:t>
            </a:r>
          </a:p>
          <a:p>
            <a:pPr algn="ctr"/>
            <a:r>
              <a:rPr sz="1300" b="1" i="0">
                <a:solidFill>
                  <a:srgbClr val="FFFFFF"/>
                </a:solidFill>
                <a:latin typeface="Segoe UI"/>
              </a:rPr>
              <a:t>meilleur score</a:t>
            </a:r>
          </a:p>
          <a:p>
            <a:pPr algn="ctr"/>
            <a:r>
              <a:rPr sz="1300" b="1" i="0">
                <a:solidFill>
                  <a:srgbClr val="FFFFFF"/>
                </a:solidFill>
                <a:latin typeface="Segoe UI"/>
              </a:rPr>
              <a:t>restant</a:t>
            </a:r>
          </a:p>
        </p:txBody>
      </p:sp>
      <p:sp>
        <p:nvSpPr>
          <p:cNvPr id="11" name="TextBox 10"/>
          <p:cNvSpPr txBox="1"/>
          <p:nvPr/>
        </p:nvSpPr>
        <p:spPr>
          <a:xfrm>
            <a:off x="700000" y="4300000"/>
            <a:ext cx="10800000" cy="500000"/>
          </a:xfrm>
          <a:prstGeom prst="rect">
            <a:avLst/>
          </a:prstGeom>
          <a:noFill/>
        </p:spPr>
        <p:txBody>
          <a:bodyPr wrap="square" anchor="t">
            <a:spAutoFit/>
          </a:bodyPr>
          <a:lstStyle/>
          <a:p>
            <a:pPr algn="ctr"/>
            <a:r>
              <a:rPr sz="1300" b="0" i="0">
                <a:solidFill>
                  <a:srgbClr val="5D5559"/>
                </a:solidFill>
                <a:latin typeface="Segoe UI"/>
              </a:rPr>
              <a:t>Un score de moins l'infini ne peut jamais etre le maximum : le coup illegal ne peut donc jamais etre choisi, quelle que soit la position.</a:t>
            </a:r>
          </a:p>
        </p:txBody>
      </p:sp>
      <p:sp>
        <p:nvSpPr>
          <p:cNvPr id="12" name="TextBox 11"/>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Architecture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ENTRAINEMENT</a:t>
            </a:r>
          </a:p>
          <a:p>
            <a:r>
              <a:rPr sz="3000" b="1" i="0">
                <a:solidFill>
                  <a:srgbClr val="1C1A1B"/>
                </a:solidFill>
                <a:latin typeface="Segoe UI"/>
              </a:rPr>
              <a:t>L'entrainement</a:t>
            </a:r>
          </a:p>
          <a:p>
            <a:pPr>
              <a:spcBef>
                <a:spcPts val="400"/>
              </a:spcBef>
            </a:pPr>
            <a:r>
              <a:rPr sz="1500" b="0" i="0">
                <a:solidFill>
                  <a:srgbClr val="5D5559"/>
                </a:solidFill>
                <a:latin typeface="Segoe UI"/>
              </a:rPr>
              <a:t>4 epoques sur 1 million de positions, GPU T4 gratuit (Google Colab)</a:t>
            </a:r>
          </a:p>
        </p:txBody>
      </p:sp>
      <p:pic>
        <p:nvPicPr>
          <p:cNvPr id="4" name="Picture 3" descr="courbes_entrainement.png"/>
          <p:cNvPicPr>
            <a:picLocks noChangeAspect="1"/>
          </p:cNvPicPr>
          <p:nvPr/>
        </p:nvPicPr>
        <p:blipFill>
          <a:blip r:embed="rId2"/>
          <a:stretch>
            <a:fillRect/>
          </a:stretch>
        </p:blipFill>
        <p:spPr>
          <a:xfrm>
            <a:off x="746000" y="1750000"/>
            <a:ext cx="10700000" cy="3242045"/>
          </a:xfrm>
          <a:prstGeom prst="rect">
            <a:avLst/>
          </a:prstGeom>
        </p:spPr>
      </p:pic>
      <p:sp>
        <p:nvSpPr>
          <p:cNvPr id="5" name="TextBox 4"/>
          <p:cNvSpPr txBox="1"/>
          <p:nvPr/>
        </p:nvSpPr>
        <p:spPr>
          <a:xfrm>
            <a:off x="700000" y="6180000"/>
            <a:ext cx="10800000" cy="500000"/>
          </a:xfrm>
          <a:prstGeom prst="rect">
            <a:avLst/>
          </a:prstGeom>
          <a:noFill/>
        </p:spPr>
        <p:txBody>
          <a:bodyPr wrap="square" anchor="t">
            <a:spAutoFit/>
          </a:bodyPr>
          <a:lstStyle/>
          <a:p>
            <a:pPr algn="ctr"/>
            <a:r>
              <a:rPr sz="1150" b="0" i="1">
                <a:solidFill>
                  <a:srgbClr val="5D5559"/>
                </a:solidFill>
                <a:latin typeface="Segoe UI"/>
              </a:rPr>
              <a:t>La perte descend regulierement sous le niveau du hasard (ligne pointillee), sans surapprentissage : les courbes d'entrainement et de validation restent proches.</a:t>
            </a:r>
          </a:p>
        </p:txBody>
      </p:sp>
      <p:sp>
        <p:nvSpPr>
          <p:cNvPr id="6" name="TextBox 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Resultats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RESULTATS</a:t>
            </a:r>
          </a:p>
          <a:p>
            <a:r>
              <a:rPr sz="3000" b="1" i="0">
                <a:solidFill>
                  <a:srgbClr val="1C1A1B"/>
                </a:solidFill>
                <a:latin typeface="Segoe UI"/>
              </a:rPr>
              <a:t>Il a appris les ouvertures</a:t>
            </a:r>
          </a:p>
          <a:p>
            <a:pPr>
              <a:spcBef>
                <a:spcPts val="400"/>
              </a:spcBef>
            </a:pPr>
            <a:r>
              <a:rPr sz="1500" b="0" i="0">
                <a:solidFill>
                  <a:srgbClr val="5D5559"/>
                </a:solidFill>
                <a:latin typeface="Segoe UI"/>
              </a:rPr>
              <a:t>Sans qu'aucune regle ne lui ait ete enseignee</a:t>
            </a:r>
          </a:p>
        </p:txBody>
      </p:sp>
      <p:pic>
        <p:nvPicPr>
          <p:cNvPr id="4" name="Picture 3" descr="ouverture_echiquier.png"/>
          <p:cNvPicPr>
            <a:picLocks noChangeAspect="1"/>
          </p:cNvPicPr>
          <p:nvPr/>
        </p:nvPicPr>
        <p:blipFill>
          <a:blip r:embed="rId2"/>
          <a:stretch>
            <a:fillRect/>
          </a:stretch>
        </p:blipFill>
        <p:spPr>
          <a:xfrm>
            <a:off x="1057694" y="1750000"/>
            <a:ext cx="10076612" cy="4600000"/>
          </a:xfrm>
          <a:prstGeom prst="rect">
            <a:avLst/>
          </a:prstGeom>
        </p:spPr>
      </p:pic>
      <p:sp>
        <p:nvSpPr>
          <p:cNvPr id="5" name="TextBox 4"/>
          <p:cNvSpPr txBox="1"/>
          <p:nvPr/>
        </p:nvSpPr>
        <p:spPr>
          <a:xfrm>
            <a:off x="700000" y="6180000"/>
            <a:ext cx="10800000" cy="500000"/>
          </a:xfrm>
          <a:prstGeom prst="rect">
            <a:avLst/>
          </a:prstGeom>
          <a:noFill/>
        </p:spPr>
        <p:txBody>
          <a:bodyPr wrap="square" anchor="t">
            <a:spAutoFit/>
          </a:bodyPr>
          <a:lstStyle/>
          <a:p>
            <a:pPr algn="ctr"/>
            <a:r>
              <a:rPr sz="1150" b="0" i="1">
                <a:solidFill>
                  <a:srgbClr val="5D5559"/>
                </a:solidFill>
                <a:latin typeface="Segoe UI"/>
              </a:rPr>
              <a:t>Dans la position de depart, le reseau concentre ses propositions sur le developpement des cavaliers et l'occupation du centre : des principes d'ouverture reels.</a:t>
            </a:r>
          </a:p>
        </p:txBody>
      </p:sp>
      <p:sp>
        <p:nvSpPr>
          <p:cNvPr id="6" name="TextBox 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Resultats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RESULTATS</a:t>
            </a:r>
          </a:p>
          <a:p>
            <a:r>
              <a:rPr sz="3000" b="1" i="0">
                <a:solidFill>
                  <a:srgbClr val="1C1A1B"/>
                </a:solidFill>
                <a:latin typeface="Segoe UI"/>
              </a:rPr>
              <a:t>Le niveau mesure en parties reelles</a:t>
            </a:r>
          </a:p>
          <a:p>
            <a:pPr>
              <a:spcBef>
                <a:spcPts val="400"/>
              </a:spcBef>
            </a:pPr>
            <a:r>
              <a:rPr sz="1500" b="0" i="0">
                <a:solidFill>
                  <a:srgbClr val="5D5559"/>
                </a:solidFill>
                <a:latin typeface="Segoe UI"/>
              </a:rPr>
              <a:t>60 parties par adversaire, couleurs alternees, intervalles de confiance de Wilson (95 %)</a:t>
            </a:r>
          </a:p>
        </p:txBody>
      </p:sp>
      <p:pic>
        <p:nvPicPr>
          <p:cNvPr id="4" name="Picture 3" descr="elo_resultats.png"/>
          <p:cNvPicPr>
            <a:picLocks noChangeAspect="1"/>
          </p:cNvPicPr>
          <p:nvPr/>
        </p:nvPicPr>
        <p:blipFill>
          <a:blip r:embed="rId2"/>
          <a:stretch>
            <a:fillRect/>
          </a:stretch>
        </p:blipFill>
        <p:spPr>
          <a:xfrm>
            <a:off x="1477403" y="1750000"/>
            <a:ext cx="9237193" cy="4300000"/>
          </a:xfrm>
          <a:prstGeom prst="rect">
            <a:avLst/>
          </a:prstGeom>
        </p:spPr>
      </p:pic>
      <p:sp>
        <p:nvSpPr>
          <p:cNvPr id="5" name="TextBox 4"/>
          <p:cNvSpPr txBox="1"/>
          <p:nvPr/>
        </p:nvSpPr>
        <p:spPr>
          <a:xfrm>
            <a:off x="700000" y="6180000"/>
            <a:ext cx="10800000" cy="500000"/>
          </a:xfrm>
          <a:prstGeom prst="rect">
            <a:avLst/>
          </a:prstGeom>
          <a:noFill/>
        </p:spPr>
        <p:txBody>
          <a:bodyPr wrap="square" anchor="t">
            <a:spAutoFit/>
          </a:bodyPr>
          <a:lstStyle/>
          <a:p>
            <a:pPr algn="ctr"/>
            <a:r>
              <a:rPr sz="1150" b="0" i="1">
                <a:solidFill>
                  <a:srgbClr val="5D5559"/>
                </a:solidFill>
                <a:latin typeface="Segoe UI"/>
              </a:rPr>
              <a:t>Face a Stockfish bride a son niveau minimum (1320), le bot perd toutes ses parties : son niveau reel est nettement en dessous.</a:t>
            </a:r>
          </a:p>
        </p:txBody>
      </p:sp>
      <p:sp>
        <p:nvSpPr>
          <p:cNvPr id="6" name="TextBox 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Resultats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DISCUSSION</a:t>
            </a:r>
          </a:p>
          <a:p>
            <a:r>
              <a:rPr sz="3000" b="1" i="0">
                <a:solidFill>
                  <a:srgbClr val="1C1A1B"/>
                </a:solidFill>
                <a:latin typeface="Segoe UI"/>
              </a:rPr>
              <a:t>Analyse : ce que ca revele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Force : la connaissance des principes</a:t>
            </a:r>
          </a:p>
          <a:p>
            <a:pPr>
              <a:spcAft>
                <a:spcPts val="1400"/>
              </a:spcAft>
            </a:pPr>
            <a:r>
              <a:rPr sz="1350">
                <a:solidFill>
                  <a:srgbClr val="5D5559"/>
                </a:solidFill>
                <a:latin typeface="Segoe UI"/>
              </a:rPr>
              <a:t>     developpement, occupation du centre, acquis par simple observation, sans recherche.</a:t>
            </a:r>
          </a:p>
          <a:p>
            <a:pPr>
              <a:spcAft>
                <a:spcPts val="1800"/>
              </a:spcAft>
            </a:pPr>
            <a:r>
              <a:rPr sz="1600" b="1">
                <a:solidFill>
                  <a:srgbClr val="B8536E"/>
                </a:solidFill>
                <a:latin typeface="Segoe UI"/>
              </a:rPr>
              <a:t>▸  </a:t>
            </a:r>
            <a:r>
              <a:rPr sz="1600" b="1">
                <a:solidFill>
                  <a:srgbClr val="1C1A1B"/>
                </a:solidFill>
                <a:latin typeface="Segoe UI"/>
              </a:rPr>
              <a:t>Faiblesse : un jeu passif</a:t>
            </a:r>
          </a:p>
          <a:p>
            <a:pPr>
              <a:spcAft>
                <a:spcPts val="1400"/>
              </a:spcAft>
            </a:pPr>
            <a:r>
              <a:rPr sz="1350">
                <a:solidFill>
                  <a:srgbClr val="5D5559"/>
                </a:solidFill>
                <a:latin typeface="Segoe UI"/>
              </a:rPr>
              <a:t>     51 nulles sur 60 parties contre l'aleatoire. Le bot atteint des positions gagnantes mais ne les convertit pas, il tourne en rond.</a:t>
            </a:r>
          </a:p>
          <a:p>
            <a:pPr>
              <a:spcAft>
                <a:spcPts val="1800"/>
              </a:spcAft>
            </a:pPr>
            <a:r>
              <a:rPr sz="1600" b="1">
                <a:solidFill>
                  <a:srgbClr val="B8536E"/>
                </a:solidFill>
                <a:latin typeface="Segoe UI"/>
              </a:rPr>
              <a:t>▸  </a:t>
            </a:r>
            <a:r>
              <a:rPr sz="1600" b="1">
                <a:solidFill>
                  <a:srgbClr val="1C1A1B"/>
                </a:solidFill>
                <a:latin typeface="Segoe UI"/>
              </a:rPr>
              <a:t>Interpretation</a:t>
            </a:r>
          </a:p>
          <a:p>
            <a:pPr>
              <a:spcAft>
                <a:spcPts val="1400"/>
              </a:spcAft>
            </a:pPr>
            <a:r>
              <a:rPr sz="1350">
                <a:solidFill>
                  <a:srgbClr val="5D5559"/>
                </a:solidFill>
                <a:latin typeface="Segoe UI"/>
              </a:rPr>
              <a:t>     sans recherche, le modele ne verifie jamais une suite de coups. Il reconnait des schemas, mais ne calcule pas les consequences. Un entrainement plus long (les courbes montaient encore a la 4e epoque) aurait probablement ameliore ce point.</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Discussion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LIVRABLE</a:t>
            </a:r>
          </a:p>
          <a:p>
            <a:r>
              <a:rPr sz="3000" b="1" i="0">
                <a:solidFill>
                  <a:srgbClr val="1C1A1B"/>
                </a:solidFill>
                <a:latin typeface="Segoe UI"/>
              </a:rPr>
              <a:t>L'application</a:t>
            </a:r>
          </a:p>
          <a:p>
            <a:pPr>
              <a:spcBef>
                <a:spcPts val="400"/>
              </a:spcBef>
            </a:pPr>
            <a:r>
              <a:rPr sz="1500" b="0" i="0">
                <a:solidFill>
                  <a:srgbClr val="5D5559"/>
                </a:solidFill>
                <a:latin typeface="Segoe UI"/>
              </a:rPr>
              <a:t>Jouer contre le bot, et voir ce qu'il pense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Mode Jouer</a:t>
            </a:r>
          </a:p>
          <a:p>
            <a:pPr>
              <a:spcAft>
                <a:spcPts val="1400"/>
              </a:spcAft>
            </a:pPr>
            <a:r>
              <a:rPr sz="1350">
                <a:solidFill>
                  <a:srgbClr val="5D5559"/>
                </a:solidFill>
                <a:latin typeface="Segoe UI"/>
              </a:rPr>
              <a:t>     on affronte le Transformer (ou les adversaires de reference) dans le navigateur.</a:t>
            </a:r>
          </a:p>
          <a:p>
            <a:pPr>
              <a:spcAft>
                <a:spcPts val="1800"/>
              </a:spcAft>
            </a:pPr>
            <a:r>
              <a:rPr sz="1600" b="1">
                <a:solidFill>
                  <a:srgbClr val="B8536E"/>
                </a:solidFill>
                <a:latin typeface="Segoe UI"/>
              </a:rPr>
              <a:t>▸  </a:t>
            </a:r>
            <a:r>
              <a:rPr sz="1600" b="1">
                <a:solidFill>
                  <a:srgbClr val="1C1A1B"/>
                </a:solidFill>
                <a:latin typeface="Segoe UI"/>
              </a:rPr>
              <a:t>Mode spectateur</a:t>
            </a:r>
          </a:p>
          <a:p>
            <a:pPr>
              <a:spcAft>
                <a:spcPts val="1400"/>
              </a:spcAft>
            </a:pPr>
            <a:r>
              <a:rPr sz="1350">
                <a:solidFill>
                  <a:srgbClr val="5D5559"/>
                </a:solidFill>
                <a:latin typeface="Segoe UI"/>
              </a:rPr>
              <a:t>     deux bots s'affrontent automatiquement, on regarde et on commente.</a:t>
            </a:r>
          </a:p>
          <a:p>
            <a:pPr>
              <a:spcAft>
                <a:spcPts val="1800"/>
              </a:spcAft>
            </a:pPr>
            <a:r>
              <a:rPr sz="1600" b="1">
                <a:solidFill>
                  <a:srgbClr val="B8536E"/>
                </a:solidFill>
                <a:latin typeface="Segoe UI"/>
              </a:rPr>
              <a:t>▸  </a:t>
            </a:r>
            <a:r>
              <a:rPr sz="1600" b="1">
                <a:solidFill>
                  <a:srgbClr val="1C1A1B"/>
                </a:solidFill>
                <a:latin typeface="Segoe UI"/>
              </a:rPr>
              <a:t>Le detail cle</a:t>
            </a:r>
          </a:p>
          <a:p>
            <a:pPr>
              <a:spcAft>
                <a:spcPts val="1400"/>
              </a:spcAft>
            </a:pPr>
            <a:r>
              <a:rPr sz="1350">
                <a:solidFill>
                  <a:srgbClr val="5D5559"/>
                </a:solidFill>
                <a:latin typeface="Segoe UI"/>
              </a:rPr>
              <a:t>     a chaque coup, les probabilites reellement sorties du reseau s'affichent : on voit litteralement le modele reflechir.</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Demonstration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DISCUSSION</a:t>
            </a:r>
          </a:p>
          <a:p>
            <a:r>
              <a:rPr sz="3000" b="1" i="0">
                <a:solidFill>
                  <a:srgbClr val="1C1A1B"/>
                </a:solidFill>
                <a:latin typeface="Segoe UI"/>
              </a:rPr>
              <a:t>Limites et perspectives</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Passer a l'action-value</a:t>
            </a:r>
          </a:p>
          <a:p>
            <a:pPr>
              <a:spcAft>
                <a:spcPts val="1400"/>
              </a:spcAft>
            </a:pPr>
            <a:r>
              <a:rPr sz="1350">
                <a:solidFill>
                  <a:srgbClr val="5D5559"/>
                </a:solidFill>
                <a:latin typeface="Segoe UI"/>
              </a:rPr>
              <a:t>     predire la probabilite de gagner de chaque coup, comme DeepMind, plutot que d'imiter le coup humain.</a:t>
            </a:r>
          </a:p>
          <a:p>
            <a:pPr>
              <a:spcAft>
                <a:spcPts val="1800"/>
              </a:spcAft>
            </a:pPr>
            <a:r>
              <a:rPr sz="1600" b="1">
                <a:solidFill>
                  <a:srgbClr val="B8536E"/>
                </a:solidFill>
                <a:latin typeface="Segoe UI"/>
              </a:rPr>
              <a:t>▸  </a:t>
            </a:r>
            <a:r>
              <a:rPr sz="1600" b="1">
                <a:solidFill>
                  <a:srgbClr val="1C1A1B"/>
                </a:solidFill>
                <a:latin typeface="Segoe UI"/>
              </a:rPr>
              <a:t>Annoter avec Stockfish</a:t>
            </a:r>
          </a:p>
          <a:p>
            <a:pPr>
              <a:spcAft>
                <a:spcPts val="1400"/>
              </a:spcAft>
            </a:pPr>
            <a:r>
              <a:rPr sz="1350">
                <a:solidFill>
                  <a:srgbClr val="5D5559"/>
                </a:solidFill>
                <a:latin typeface="Segoe UI"/>
              </a:rPr>
              <a:t>     apprendre du MEILLEUR coup calcule par un moteur, pas seulement du coup joue par un humain.</a:t>
            </a:r>
          </a:p>
          <a:p>
            <a:pPr>
              <a:spcAft>
                <a:spcPts val="1800"/>
              </a:spcAft>
            </a:pPr>
            <a:r>
              <a:rPr sz="1600" b="1">
                <a:solidFill>
                  <a:srgbClr val="B8536E"/>
                </a:solidFill>
                <a:latin typeface="Segoe UI"/>
              </a:rPr>
              <a:t>▸  </a:t>
            </a:r>
            <a:r>
              <a:rPr sz="1600" b="1">
                <a:solidFill>
                  <a:srgbClr val="1C1A1B"/>
                </a:solidFill>
                <a:latin typeface="Segoe UI"/>
              </a:rPr>
              <a:t>Ajouter une recherche legere</a:t>
            </a:r>
          </a:p>
          <a:p>
            <a:pPr>
              <a:spcAft>
                <a:spcPts val="1400"/>
              </a:spcAft>
            </a:pPr>
            <a:r>
              <a:rPr sz="1350">
                <a:solidFill>
                  <a:srgbClr val="5D5559"/>
                </a:solidFill>
                <a:latin typeface="Segoe UI"/>
              </a:rPr>
              <a:t>     une profondeur 2-3 guidee par les propositions du reseau corrigerait probablement l'essentiel des erreurs tactiques.</a:t>
            </a:r>
          </a:p>
          <a:p>
            <a:pPr>
              <a:spcAft>
                <a:spcPts val="1800"/>
              </a:spcAft>
            </a:pPr>
            <a:r>
              <a:rPr sz="1600" b="1">
                <a:solidFill>
                  <a:srgbClr val="B8536E"/>
                </a:solidFill>
                <a:latin typeface="Segoe UI"/>
              </a:rPr>
              <a:t>▸  </a:t>
            </a:r>
            <a:r>
              <a:rPr sz="1600" b="1">
                <a:solidFill>
                  <a:srgbClr val="1C1A1B"/>
                </a:solidFill>
                <a:latin typeface="Segoe UI"/>
              </a:rPr>
              <a:t>Entrainer plus longtemps</a:t>
            </a:r>
          </a:p>
          <a:p>
            <a:pPr>
              <a:spcAft>
                <a:spcPts val="1400"/>
              </a:spcAft>
            </a:pPr>
            <a:r>
              <a:rPr sz="1350">
                <a:solidFill>
                  <a:srgbClr val="5D5559"/>
                </a:solidFill>
                <a:latin typeface="Segoe UI"/>
              </a:rPr>
              <a:t>     les courbes etaient encore croissantes ; un GPU stable (non sujet aux deconnexions) permettrait d'aller plus loin.</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Perspectives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ORGANISATION</a:t>
            </a:r>
          </a:p>
          <a:p>
            <a:r>
              <a:rPr sz="3000" b="1" i="0">
                <a:solidFill>
                  <a:srgbClr val="1C1A1B"/>
                </a:solidFill>
                <a:latin typeface="Segoe UI"/>
              </a:rPr>
              <a:t>Gestion de projet</a:t>
            </a:r>
          </a:p>
          <a:p>
            <a:pPr>
              <a:spcBef>
                <a:spcPts val="400"/>
              </a:spcBef>
            </a:pPr>
            <a:r>
              <a:rPr sz="1500" b="0" i="0">
                <a:solidFill>
                  <a:srgbClr val="5D5559"/>
                </a:solidFill>
                <a:latin typeface="Segoe UI"/>
              </a:rPr>
              <a:t>Un binome, un depot Git versionne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[Prenom] : donnees et modele</a:t>
            </a:r>
          </a:p>
          <a:p>
            <a:pPr>
              <a:spcAft>
                <a:spcPts val="1400"/>
              </a:spcAft>
            </a:pPr>
            <a:r>
              <a:rPr sz="1350">
                <a:solidFill>
                  <a:srgbClr val="5D5559"/>
                </a:solidFill>
                <a:latin typeface="Segoe UI"/>
              </a:rPr>
              <a:t>     extraction/filtrage des parties, encodage des positions, architecture et entrainement du Transformer.</a:t>
            </a:r>
          </a:p>
          <a:p>
            <a:pPr>
              <a:spcAft>
                <a:spcPts val="1800"/>
              </a:spcAft>
            </a:pPr>
            <a:r>
              <a:rPr sz="1600" b="1">
                <a:solidFill>
                  <a:srgbClr val="B8536E"/>
                </a:solidFill>
                <a:latin typeface="Segoe UI"/>
              </a:rPr>
              <a:t>▸  </a:t>
            </a:r>
            <a:r>
              <a:rPr sz="1600" b="1">
                <a:solidFill>
                  <a:srgbClr val="1C1A1B"/>
                </a:solidFill>
                <a:latin typeface="Segoe UI"/>
              </a:rPr>
              <a:t>[Prenom] : evaluation et application</a:t>
            </a:r>
          </a:p>
          <a:p>
            <a:pPr>
              <a:spcAft>
                <a:spcPts val="1400"/>
              </a:spcAft>
            </a:pPr>
            <a:r>
              <a:rPr sz="1350">
                <a:solidFill>
                  <a:srgbClr val="5D5559"/>
                </a:solidFill>
                <a:latin typeface="Segoe UI"/>
              </a:rPr>
              <a:t>     moteurs de reference, calcul d'Elo, campagne contre Stockfish, application de jeu.</a:t>
            </a:r>
          </a:p>
          <a:p>
            <a:pPr>
              <a:spcAft>
                <a:spcPts val="1800"/>
              </a:spcAft>
            </a:pPr>
            <a:r>
              <a:rPr sz="1600" b="1">
                <a:solidFill>
                  <a:srgbClr val="B8536E"/>
                </a:solidFill>
                <a:latin typeface="Segoe UI"/>
              </a:rPr>
              <a:t>▸  </a:t>
            </a:r>
            <a:r>
              <a:rPr sz="1600" b="1">
                <a:solidFill>
                  <a:srgbClr val="1C1A1B"/>
                </a:solidFill>
                <a:latin typeface="Segoe UI"/>
              </a:rPr>
              <a:t>Difficultes reelles rencontrees</a:t>
            </a:r>
          </a:p>
          <a:p>
            <a:pPr>
              <a:spcAft>
                <a:spcPts val="1400"/>
              </a:spcAft>
            </a:pPr>
            <a:r>
              <a:rPr sz="1350">
                <a:solidFill>
                  <a:srgbClr val="5D5559"/>
                </a:solidFill>
                <a:latin typeface="Segoe UI"/>
              </a:rPr>
              <a:t>     lecture des donnees initialement trop lente (corrigee, x18) · Elo infini a 100 % de victoires (corrige par la methode de Wilson) · deconnexions de l'environnement Colab gratuit (contournees par sauvegarde sur Drive a chaque epoque).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Organisation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SYNTHESE</a:t>
            </a:r>
          </a:p>
          <a:p>
            <a:r>
              <a:rPr sz="3000" b="1" i="0">
                <a:solidFill>
                  <a:srgbClr val="1C1A1B"/>
                </a:solidFill>
                <a:latin typeface="Segoe UI"/>
              </a:rPr>
              <a:t>Conclusion</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Un Transformer apprend a jouer sans recherche</a:t>
            </a:r>
          </a:p>
          <a:p>
            <a:pPr>
              <a:spcAft>
                <a:spcPts val="1400"/>
              </a:spcAft>
            </a:pPr>
            <a:r>
              <a:rPr sz="1350">
                <a:solidFill>
                  <a:srgbClr val="5D5559"/>
                </a:solidFill>
                <a:latin typeface="Segoe UI"/>
              </a:rPr>
              <a:t>     juste en observant des parties, par clonage comportemental.</a:t>
            </a:r>
          </a:p>
          <a:p>
            <a:pPr>
              <a:spcAft>
                <a:spcPts val="1800"/>
              </a:spcAft>
            </a:pPr>
            <a:r>
              <a:rPr sz="1600" b="1">
                <a:solidFill>
                  <a:srgbClr val="B8536E"/>
                </a:solidFill>
                <a:latin typeface="Segoe UI"/>
              </a:rPr>
              <a:t>▸  </a:t>
            </a:r>
            <a:r>
              <a:rPr sz="1600" b="1">
                <a:solidFill>
                  <a:srgbClr val="1C1A1B"/>
                </a:solidFill>
                <a:latin typeface="Segoe UI"/>
              </a:rPr>
              <a:t>Niveau modeste (~250 Elo) mais reel</a:t>
            </a:r>
          </a:p>
          <a:p>
            <a:pPr>
              <a:spcAft>
                <a:spcPts val="1400"/>
              </a:spcAft>
            </a:pPr>
            <a:r>
              <a:rPr sz="1350">
                <a:solidFill>
                  <a:srgbClr val="5D5559"/>
                </a:solidFill>
                <a:latin typeface="Segoe UI"/>
              </a:rPr>
              <a:t>     principes d'ouverture correctement acquis, jeu de fin de partie encore faible.</a:t>
            </a:r>
          </a:p>
          <a:p>
            <a:pPr>
              <a:spcAft>
                <a:spcPts val="1800"/>
              </a:spcAft>
            </a:pPr>
            <a:r>
              <a:rPr sz="1600" b="1">
                <a:solidFill>
                  <a:srgbClr val="B8536E"/>
                </a:solidFill>
                <a:latin typeface="Segoe UI"/>
              </a:rPr>
              <a:t>▸  </a:t>
            </a:r>
            <a:r>
              <a:rPr sz="1600" b="1">
                <a:solidFill>
                  <a:srgbClr val="1C1A1B"/>
                </a:solidFill>
                <a:latin typeface="Segoe UI"/>
              </a:rPr>
              <a:t>Une demarche complete et rigoureuse</a:t>
            </a:r>
          </a:p>
          <a:p>
            <a:pPr>
              <a:spcAft>
                <a:spcPts val="1400"/>
              </a:spcAft>
            </a:pPr>
            <a:r>
              <a:rPr sz="1350">
                <a:solidFill>
                  <a:srgbClr val="5D5559"/>
                </a:solidFill>
                <a:latin typeface="Segoe UI"/>
              </a:rPr>
              <a:t>     chaine reproductible, encodage teste, evaluation avec intervalles de confiance.</a:t>
            </a:r>
          </a:p>
          <a:p>
            <a:pPr>
              <a:spcAft>
                <a:spcPts val="1800"/>
              </a:spcAft>
            </a:pPr>
            <a:r>
              <a:rPr sz="1600" b="1">
                <a:solidFill>
                  <a:srgbClr val="B8536E"/>
                </a:solidFill>
                <a:latin typeface="Segoe UI"/>
              </a:rPr>
              <a:t>▸  </a:t>
            </a:r>
            <a:r>
              <a:rPr sz="1600" b="1">
                <a:solidFill>
                  <a:srgbClr val="1C1A1B"/>
                </a:solidFill>
                <a:latin typeface="Segoe UI"/>
              </a:rPr>
              <a:t>Le point cle a retenir</a:t>
            </a:r>
          </a:p>
          <a:p>
            <a:pPr>
              <a:spcAft>
                <a:spcPts val="1400"/>
              </a:spcAft>
            </a:pPr>
            <a:r>
              <a:rPr sz="1350">
                <a:solidFill>
                  <a:srgbClr val="5D5559"/>
                </a:solidFill>
                <a:latin typeface="Segoe UI"/>
              </a:rPr>
              <a:t>     la difference entre connaissance (ce que le reseau a memorise) et calcul (la recherche qu'on a volontairement retiree).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Conclusion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1A1B"/>
        </a:solidFill>
        <a:effectLst/>
      </p:bgPr>
    </p:bg>
    <p:spTree>
      <p:nvGrpSpPr>
        <p:cNvPr id="1" name=""/>
        <p:cNvGrpSpPr/>
        <p:nvPr/>
      </p:nvGrpSpPr>
      <p:grpSpPr/>
      <p:sp>
        <p:nvSpPr>
          <p:cNvPr id="2" name="TextBox 1"/>
          <p:cNvSpPr txBox="1"/>
          <p:nvPr/>
        </p:nvSpPr>
        <p:spPr>
          <a:xfrm>
            <a:off x="900000" y="2450000"/>
            <a:ext cx="10400000" cy="2500000"/>
          </a:xfrm>
          <a:prstGeom prst="rect">
            <a:avLst/>
          </a:prstGeom>
          <a:noFill/>
        </p:spPr>
        <p:txBody>
          <a:bodyPr wrap="square" anchor="ctr">
            <a:spAutoFit/>
          </a:bodyPr>
          <a:lstStyle/>
          <a:p>
            <a:r>
              <a:rPr sz="5000" b="1" i="0">
                <a:solidFill>
                  <a:srgbClr val="FFFFFF"/>
                </a:solidFill>
                <a:latin typeface="Segoe UI"/>
              </a:rPr>
              <a:t>Merci</a:t>
            </a:r>
          </a:p>
          <a:p>
            <a:pPr>
              <a:spcBef>
                <a:spcPts val="1200"/>
              </a:spcBef>
            </a:pPr>
            <a:r>
              <a:rPr sz="2100" b="1" i="0">
                <a:solidFill>
                  <a:srgbClr val="E7C6CE"/>
                </a:solidFill>
                <a:latin typeface="Segoe UI"/>
              </a:rP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